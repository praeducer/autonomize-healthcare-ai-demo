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AI-Driven Prior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Solution Architecture for a Large US Health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015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4345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Paul Prae  |  Principal AI Engineer &amp;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84704"/>
            <a:ext cx="10360152" cy="243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www.paulprae.com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01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Manual PA costs $10.97/transaction provider-side (CAQH 2024), $3.52 payer-side vs $0.05 electronic. 93% of physicians say PA delays care (AMA 2024).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9417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The Opportunity — Altais + Autonomize AI (Feb 2026)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4123944"/>
          <a:ext cx="10360151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121"/>
                <a:gridCol w="207203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review time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Manual error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Auto-determination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51383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Why Autonomize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Live at 3 of the 5 largest US health plans</a:t>
            </a:r>
            <a:br/>
            <a:r>
              <a:t>• PA Copilot on Azure Marketplace — Microsoft Pegasus Program member</a:t>
            </a:r>
            <a:br/>
            <a:r>
              <a:t>• ServiceNow partnership extends reach into payer workflows</a:t>
            </a:r>
            <a:br/>
            <a:r>
              <a:t>• CMS-0057-F deadline (Jan 2027) creates urgency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 Request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3 / 14</a:t>
            </a:r>
          </a:p>
        </p:txBody>
      </p:sp>
      <p:pic>
        <p:nvPicPr>
          <p:cNvPr id="4" name="Picture 3" descr="03-pa-requ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10360152" cy="15328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2602727"/>
            <a:ext cx="10360152" cy="25958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02727"/>
            <a:ext cx="54864" cy="25958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2727"/>
            <a:ext cx="10085832" cy="259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Calibri"/>
              </a:defRPr>
            </a:pPr>
            <a:r>
              <a:t>Submit → Intake (OCR) → Validate (eligibility) → AI Review (coverage matching + confidence) → Route (auto-approve / human review / pend) → Respond (payer core + provider notification)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4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360152" cy="147828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60120"/>
            <a:ext cx="54864" cy="147828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960120"/>
            <a:ext cx="10085832" cy="147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LIVE DEMO: </a:t>
            </a:r>
            <a:r>
              <a:rPr sz="1100">
                <a:solidFill>
                  <a:srgbClr val="1A1A1A"/>
                </a:solidFill>
                <a:latin typeface="Calibri"/>
              </a:rPr>
              <a:t>Working proof of concept — demonstrates core clinical review (steps 4-5 of the lifecycle).</a:t>
            </a:r>
          </a:p>
        </p:txBody>
      </p:sp>
      <p:pic>
        <p:nvPicPr>
          <p:cNvPr id="7" name="Picture 6" descr="07-demo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188" y="2548128"/>
            <a:ext cx="3882574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5218176"/>
          <a:ext cx="10360151" cy="1319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3288"/>
                <a:gridCol w="5596863"/>
              </a:tblGrid>
              <a:tr h="263956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 Scope (Phase 0)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Differences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26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PA cases with real ICD-10/CPT codes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Mock eligibility → Payer Core integration</a:t>
                      </a:r>
                    </a:p>
                  </a:txBody>
                  <a:tcPr anchor="ctr"/>
                </a:tc>
              </a:tr>
              <a:tr h="26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reviews in ~30s via Claude tool 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Local criteria → CMS Coverage Database API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6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data models (fhir.resources R4B)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Synthetic data → real clinical records via FHIR</a:t>
                      </a:r>
                    </a:p>
                  </a:txBody>
                  <a:tcPr anchor="ctr"/>
                </a:tc>
              </a:tr>
              <a:tr h="2639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CLI, REST API + Swagger, Web Dashboard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Single-user → Azure Container Apps + auto-scale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5 / 14</a:t>
            </a:r>
          </a:p>
        </p:txBody>
      </p:sp>
      <p:pic>
        <p:nvPicPr>
          <p:cNvPr id="4" name="Picture 3" descr="0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79" y="960120"/>
            <a:ext cx="9325393" cy="2926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995928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105"/>
                <a:gridCol w="4721081"/>
                <a:gridCol w="2753964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Healthcare Providers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Submit PA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Fax, Portal, X12 278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AI-driven clinical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Genesis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Plan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Eligibility, benefits, clinical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 API, FHIR R4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Regulators (CMS)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Compliance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metrics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6 / 14</a:t>
            </a:r>
          </a:p>
        </p:txBody>
      </p:sp>
      <p:pic>
        <p:nvPicPr>
          <p:cNvPr id="4" name="Picture 3" descr="02-componen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835" y="960120"/>
            <a:ext cx="186528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813048"/>
          <a:ext cx="10360150" cy="2724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529"/>
                <a:gridCol w="3934234"/>
                <a:gridCol w="3147387"/>
              </a:tblGrid>
              <a:tr h="24771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Ingestion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API Mgmt +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Receives all PA channels</a:t>
                      </a:r>
                    </a:p>
                  </a:txBody>
                  <a:tcPr anchor="ctr"/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Processing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Document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OCR for faxes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Eligibility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Member validation</a:t>
                      </a:r>
                    </a:p>
                  </a:txBody>
                  <a:tcPr anchor="ctr"/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Data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Health Data Services (FHIR R4)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Unified clinical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 + 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clinical review</a:t>
                      </a:r>
                    </a:p>
                  </a:txBody>
                  <a:tcPr anchor="ctr"/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Router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Functions + Rules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Confidence-based routing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Clinical Review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Studio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Human reviewer interface</a:t>
                      </a:r>
                    </a:p>
                  </a:txBody>
                  <a:tcPr anchor="ctr"/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Determination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Functions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Payer Core writeback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LLMOps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Monitor + Evals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 anchor="ctr"/>
                </a:tc>
              </a:tr>
              <a:tr h="24771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Audit &amp;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Blob Storage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This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195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Safety-first routing — confidence thresholds route low-certainty cases to human reviewers; no auto-deny without clinical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20568"/>
            <a:ext cx="10360152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Configurable thresholds — start conservative, tune with real performance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9496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CMS-0057-F compliance — FHIR R4 foundation meets Jan 2027 API deadline without re-architecture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22264"/>
            <a:ext cx="10360152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Azure-native — leverages Autonomize’s Azure ecosystem, Pegasus Program, and Marketplace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Top 3 Security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8 /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4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2"/>
                <a:gridCol w="2084290"/>
                <a:gridCol w="4720305"/>
                <a:gridCol w="34942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Mitigation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exposure through AI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PHI tokenization before LLM — AI sees clinical facts without patient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Zero data retention for model training (enterprise terms)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Prompt injection via clinical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Document sanitization + system prompt isolation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Output validation requires evidence citations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Untraceable AI decisions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Tamper-proof audit: model version, input hash, reasoning, 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Immutable 7-year retention, append-only writes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350008"/>
            <a:ext cx="10360152" cy="19253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50008"/>
            <a:ext cx="54864" cy="19253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50008"/>
            <a:ext cx="10085832" cy="192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Additional controls: </a:t>
            </a:r>
            <a:r>
              <a:rPr sz="1100">
                <a:solidFill>
                  <a:srgbClr val="1A1A1A"/>
                </a:solidFill>
                <a:latin typeface="Calibri"/>
              </a:rPr>
              <a:t>Entra ID RBAC, AES-256 at rest, TLS 1.2+ in transit, private endpoints, no auto-deny without human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Progressive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9 /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561"/>
                <a:gridCol w="3096137"/>
                <a:gridCol w="500145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Deliverable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0: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 the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Working AI PA review with mock data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1: MVP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Single LOB, single channel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PA processing with human review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2: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Multi-channel, multi-LOB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Fax OCR, legacy data, LOB configuration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Phase 3: Enterprise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scale,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channels, 20 LOBs, CMS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670048"/>
            <a:ext cx="10360152" cy="214884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70048"/>
            <a:ext cx="54864" cy="214884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70048"/>
            <a:ext cx="100858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Design principle: </a:t>
            </a:r>
            <a:r>
              <a:rPr sz="1100">
                <a:solidFill>
                  <a:srgbClr val="1A1A1A"/>
                </a:solidFill>
                <a:latin typeface="Calibri"/>
              </a:rPr>
              <a:t>Each phase produces a deployable, demonstrable system. Decision gates between phases use real performance data to scope the next phase.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Discussion Starters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Business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0360152" cy="195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ServiceNow partnership change payer integration strategy?</a:t>
            </a:r>
            <a:br/>
            <a:r>
              <a:t>• What is the target auto-determination rate for Phase 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50336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Technical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0104"/>
            <a:ext cx="10360152" cy="195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How does the Genesis Platform handle coverage criteria updates?</a:t>
            </a:r>
            <a:br/>
            <a:r>
              <a:t>• What’s the Azure AI Foundry Agent Service integration status?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055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70320"/>
            <a:ext cx="10360152" cy="16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Which LOB is the ideal Phase 1 candidate?</a:t>
            </a:r>
            <a:br/>
            <a:r>
              <a:t>• What’s been the biggest integration challenge with existing payer deployments?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A: Clinical Data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11 / 14</a:t>
            </a:r>
          </a:p>
        </p:txBody>
      </p:sp>
      <p:pic>
        <p:nvPicPr>
          <p:cNvPr id="4" name="Picture 3" descr="04-clinical-data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581" y="960120"/>
            <a:ext cx="6119789" cy="2560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630168"/>
          <a:ext cx="1036015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352"/>
                <a:gridCol w="3347126"/>
                <a:gridCol w="3984673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Modern EMRs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FHIR R4 REST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OAuth 2.0 / SMART on FHIR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Legacy DB Connector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DB connector / HL7 v2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 account + VNet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700016"/>
            <a:ext cx="10360152" cy="1837944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00016"/>
            <a:ext cx="54864" cy="1837944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00016"/>
            <a:ext cx="10085832" cy="1837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FHIR R4: </a:t>
            </a:r>
            <a:r>
              <a:rPr sz="1100">
                <a:solidFill>
                  <a:srgbClr val="1A1A1A"/>
                </a:solidFill>
                <a:latin typeface="Calibri"/>
              </a:rPr>
              <a:t>Interoperability standard for clinical data. Modern sources expose natively; legacy data normalized before AI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B: AI Model Monitoring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12 / 14</a:t>
            </a:r>
          </a:p>
        </p:txBody>
      </p:sp>
      <p:pic>
        <p:nvPicPr>
          <p:cNvPr id="4" name="Picture 3" descr="06-llmop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984" y="960120"/>
            <a:ext cx="8614982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630168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065A"/>
                </a:solidFill>
                <a:latin typeface="Calibri"/>
              </a:defRPr>
            </a:pPr>
            <a:r>
              <a:t>Detect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59936"/>
            <a:ext cx="10360152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• Overturn rate monitoring (human overrides AI), appeal rate, accuracy trends</a:t>
            </a:r>
            <a:br/>
            <a:r>
              <a:t>• Automated evals — golden test cases benchmarked on schedule</a:t>
            </a:r>
            <a:br/>
            <a:r>
              <a:t>• Confidence distribution shifts signal model or data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Appendix C: Scaling to 20 LOBs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13 /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028"/>
                <a:gridCol w="1593869"/>
                <a:gridCol w="2390804"/>
                <a:gridCol w="265644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Isolation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Multi-tenant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Lower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Multi-instance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Physical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2029968"/>
            <a:ext cx="10360152" cy="214884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29968"/>
            <a:ext cx="54864" cy="214884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100858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Recommendation: </a:t>
            </a:r>
            <a:r>
              <a:rPr sz="1100">
                <a:solidFill>
                  <a:srgbClr val="1A1A1A"/>
                </a:solidFill>
                <a:latin typeface="Calibri"/>
              </a:rPr>
              <a:t>Start multi-tenant with per-LOB config. Genesis Platform supports it. Separate instances only where regulation requires physical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88536"/>
            <a:ext cx="10360152" cy="1925320"/>
          </a:xfrm>
          <a:prstGeom prst="rect">
            <a:avLst/>
          </a:prstGeom>
          <a:solidFill>
            <a:srgbClr val="F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288536"/>
            <a:ext cx="54864" cy="1925320"/>
          </a:xfrm>
          <a:prstGeom prst="rect">
            <a:avLst/>
          </a:prstGeom>
          <a:solidFill>
            <a:srgbClr val="731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88536"/>
            <a:ext cx="10085832" cy="192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9065A"/>
                </a:solidFill>
                <a:latin typeface="Calibri"/>
              </a:rPr>
              <a:t>Honest unknowns: </a:t>
            </a:r>
            <a:r>
              <a:rPr sz="1100">
                <a:solidFill>
                  <a:srgbClr val="1A1A1A"/>
                </a:solidFill>
                <a:latin typeface="Calibri"/>
              </a:rPr>
              <a:t>The right answer depends on actual LOB rule complexity and regulatory requirements — both are discovery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90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2952" y="65379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99999"/>
                </a:solidFill>
                <a:latin typeface="Calibri"/>
              </a:defRPr>
            </a:pPr>
            <a:r>
              <a:t>14 / 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60120"/>
          <a:ext cx="1036015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933"/>
                <a:gridCol w="4577741"/>
                <a:gridCol w="5541476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9065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$10.97 manual PA labor cost (provider)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$3.52 manual PA labor cost (payer)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~$0.05 electronic PA cost (payer)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CAQH 2024 Index, p. 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45% PA review time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 manual error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50% auto-determination rate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Altais + 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93% physicians say PA delays 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AMA 2024 Prior Auth Survey, p. 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1 Jan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CMS-0057-F Phase 2 Jan 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CMS Interoperability Final Rule Fact Sheet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Live at 3 of 5 largest US plans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Autonomize AI (BusinessWire Feb 2026)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 Copilot on Azure Marketplace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Azure Marketplace listing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ServiceNow partnership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Mar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Claude in 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Learn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Genesis Platform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GlobeNewsWire Apr 2025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Microsoft Pegasus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BusinessWire Nov 2025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