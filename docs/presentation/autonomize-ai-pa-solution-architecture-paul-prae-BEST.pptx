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AI-Driven Prior Authorization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003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065A"/>
                </a:solidFill>
                <a:latin typeface="Calibri"/>
              </a:defRPr>
            </a:pPr>
            <a:r>
              <a:t>Solution Architecture for a Large US Health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0068"/>
            <a:ext cx="10360152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Paul Prae  |  Principal AI Engineer &amp;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4596"/>
            <a:ext cx="10360152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www.paulprae.com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Problem &amp; Opportunity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2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Manual PA processing costs $10.97 per provider transaction and $3.52 per payer transaction, versus $0.05 when fully electronic (CAQH 2024). 93% of physicians report PA delays patient care (AMA 2024).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8541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Opportunity — Altais + Autonomize AI (Feb 2026)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615184"/>
          <a:ext cx="1036015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121"/>
                <a:gridCol w="207203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review time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Manual error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Auto-determination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400507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Why Autonomize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Live at 3 of the 5 largest US health plans</a:t>
            </a:r>
            <a:br/>
            <a:r>
              <a:t>• PA Copilot on Azure Marketplace — Microsoft Pegasus Program member</a:t>
            </a:r>
            <a:br/>
            <a:r>
              <a:t>• ServiceNow partnership extends reach into payer workflows</a:t>
            </a:r>
            <a:br/>
            <a:r>
              <a:t>• CMS-0057-F deadline (Jan 2027) creates urgency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 Request Lifecycle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3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3-pa-request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60120"/>
            <a:ext cx="10360152" cy="15328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2602727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02727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2727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r>
              <a:t>Submit → Intake (OCR) → Validate (eligibility) → AI Review (coverage matching + confidence) → Route (auto-approve / human review / pend) → Respond (payer core + provider notification)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Demo — Proof of Concept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4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960120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960120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LIVE DEMO: </a:t>
            </a:r>
            <a:r>
              <a:rPr sz="1100">
                <a:solidFill>
                  <a:srgbClr val="1A1A1A"/>
                </a:solidFill>
                <a:latin typeface="Calibri"/>
              </a:rPr>
              <a:t>Working proof of concept — demonstrates core clinical review (steps 4-5 of the lifecycle).</a:t>
            </a:r>
          </a:p>
        </p:txBody>
      </p:sp>
      <p:pic>
        <p:nvPicPr>
          <p:cNvPr id="9" name="Picture 8" descr="07-demo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188" y="1671828"/>
            <a:ext cx="3882574" cy="25603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341876"/>
          <a:ext cx="1036015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3288"/>
                <a:gridCol w="559686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Demo Scope (Phase 0)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Differences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 PA cases with real ICD-10/CPT codes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Mock eligibility → Payer Core integration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reviews in ~30s via Claude tool 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Local criteria → CMS Coverage Database API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data models (fhir.resources R4B)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Synthetic data → real clinical records via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CLI, REST API + Swagger, Web Dashboard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Single-user → Azure Container Apps + auto-scale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Context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5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1-system-con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779" y="960120"/>
            <a:ext cx="9325393" cy="29260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995928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105"/>
                <a:gridCol w="4721081"/>
                <a:gridCol w="2753964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Healthcare Providers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Submit PA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Fax, Portal, X12 278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AI-driven clinical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Genesis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Plan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Eligibility, benefits, clinical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REST API, FHIR R4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Regulators (CMS)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metrics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6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2-component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35" y="960120"/>
            <a:ext cx="341968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 — Components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7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529"/>
                <a:gridCol w="3934234"/>
                <a:gridCol w="3147387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Ingestion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API Mgmt +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Receives all PA channels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Processing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Document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OCR for faxes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Member validation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Data Aggregation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Data Services (FHIR R4)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Unified clinical context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 + Claude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clinical review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Router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Functions + Rules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Confidence-based routing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Review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Studio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Human reviewer interface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Response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Functions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writeback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LLMOps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Monitor + Evals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Performance monitoring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&amp;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Blob Storage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 trail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Why This Architecture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8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Safety-first routing — confidence thresholds route low-certainty cases to human reviewers; no auto-deny without clinical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10360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Configurable thresholds — start conservative, tune with real performance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CMS-0057-F compliance — FHIR R4 foundation meets Jan 2027 API deadline without re-architecture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3230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Azure-native — leverages Autonomize’s Azure ecosystem, Pegasus Program, and Marketplace presence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Full audit trail — every determination records model version, input hash, reasoning, evidence, and confidence for 7-year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Top 3 Security Risks &amp; Mitigations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9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4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2"/>
                <a:gridCol w="2084290"/>
                <a:gridCol w="4720305"/>
                <a:gridCol w="34942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exposure through AI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tokenization before LLM — AI sees clinical facts without patient 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Zero data retention for model training (enterprise terms)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Prompt injection via clinical docs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sanitization + system prompt isolation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Output validation requires evidence citations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Untraceable AI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audit: model version, input hash, reasoning,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7-year retention, append-only writes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35000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35000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50008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Additional controls: </a:t>
            </a:r>
            <a:r>
              <a:rPr sz="1100">
                <a:solidFill>
                  <a:srgbClr val="1A1A1A"/>
                </a:solidFill>
                <a:latin typeface="Calibri"/>
              </a:rPr>
              <a:t>Entra ID RBAC, AES-256 at rest, TLS 1.2+ in transit, private endpoints, no auto-deny without human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Progressive Delivery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10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561"/>
                <a:gridCol w="3096137"/>
                <a:gridCol w="50014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0: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Prove the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Working AI PA review with mock data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1: MVP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 LOB, single channel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Production PA processing with human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2: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Multi-channel, multi-LOB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 OCR, legacy data, LOB configuration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3: Enterprise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Full scale,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channels, 20 LOBs, CMS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67004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7004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Design principle: </a:t>
            </a:r>
            <a:r>
              <a:rPr sz="1100">
                <a:solidFill>
                  <a:srgbClr val="1A1A1A"/>
                </a:solidFill>
                <a:latin typeface="Calibri"/>
              </a:rPr>
              <a:t>Each phase produces a deployable, demonstrable system. Decision gates between phases use real performance data to scope the next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Discussion Starters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11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Business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ServiceNow partnership change payer integration strategy?</a:t>
            </a:r>
            <a:br/>
            <a:r>
              <a:t>• What is the target auto-determination rate for Phase 1?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Technical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8658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Genesis Platform handle coverage criteria updates?</a:t>
            </a:r>
            <a:br/>
            <a:r>
              <a:t>• What’s the Azure AI Foundry Agent Service integration status?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Which LOB is the ideal Phase 1 candidate?</a:t>
            </a:r>
            <a:br/>
            <a:r>
              <a:t>• What’s been the biggest integration challenge with existing payer deployments?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A: Clinical Data Integration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12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4-clinical-data-a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581" y="960120"/>
            <a:ext cx="6119789" cy="25603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630168"/>
          <a:ext cx="10360151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352"/>
                <a:gridCol w="3347126"/>
                <a:gridCol w="398467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Modern EMRs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OAuth 2.0 / SMART on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Legacy DB Connector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DB connector / HL7 v2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 account + VNet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700016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700016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00016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FHIR R4: </a:t>
            </a:r>
            <a:r>
              <a:rPr sz="1100">
                <a:solidFill>
                  <a:srgbClr val="1A1A1A"/>
                </a:solidFill>
                <a:latin typeface="Calibri"/>
              </a:rPr>
              <a:t>Interoperability standard for clinical data. Modern sources expose natively; legacy data normalized before AI processing.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11724"/>
            <a:ext cx="10360152" cy="39243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5411724"/>
            <a:ext cx="54864" cy="39243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411724"/>
            <a:ext cx="10085832" cy="392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Security: </a:t>
            </a:r>
            <a:r>
              <a:rPr sz="1100">
                <a:solidFill>
                  <a:srgbClr val="1A1A1A"/>
                </a:solidFill>
                <a:latin typeface="Calibri"/>
              </a:rPr>
              <a:t>All clinical data passes through PHI tokenization before reaching the AI engine.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B: AI Model Monitoring &amp; Feedback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13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6-llmops-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984" y="960120"/>
            <a:ext cx="8614982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630168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Detect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59936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Overturn rate monitoring (human overrides AI), appeal rate, accuracy trends</a:t>
            </a:r>
            <a:br/>
            <a:r>
              <a:t>• Automated evals — golden test cases benchmarked on schedule</a:t>
            </a:r>
            <a:br/>
            <a:r>
              <a:t>• Confidence distribution shifts signal model or data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55464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Feedback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1. Reviewer corrections → updated eval dataset  2. Benchmark new vs current  3. Staged blue-green rollout  4. Guardrails always active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C: Scaling to 20 LOBs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14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028"/>
                <a:gridCol w="1593869"/>
                <a:gridCol w="2390804"/>
                <a:gridCol w="2656449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Isolation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Multi-tenant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Multi-instance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Physical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02996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2996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Recommendation: </a:t>
            </a:r>
            <a:r>
              <a:rPr sz="1100">
                <a:solidFill>
                  <a:srgbClr val="1A1A1A"/>
                </a:solidFill>
                <a:latin typeface="Calibri"/>
              </a:rPr>
              <a:t>Start multi-tenant with per-LOB config. Genesis Platform supports it. Separate instances only where regulation requires physical isolation.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1676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741676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41676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Honest unknowns: </a:t>
            </a:r>
            <a:r>
              <a:rPr sz="1100">
                <a:solidFill>
                  <a:srgbClr val="1A1A1A"/>
                </a:solidFill>
                <a:latin typeface="Calibri"/>
              </a:rPr>
              <a:t>The right answer depends on actual LOB rule complexity and regulatory requirements — both are discovery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Sources &amp; References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15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33"/>
                <a:gridCol w="4577741"/>
                <a:gridCol w="5541476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Claim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$10.97 manual PA labor cost (provider)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$3.52 manual PA labor cost (payer)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~$0.05 electronic PA cost (payer)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 PA review time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 manual error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 auto-determination rate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93% physicians say PA delays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AMA 2024 Prior Auth Survey, p. 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1 Jan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2 Jan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Live at 3 of 5 largest US plans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Azure Marketplace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Marketplace listing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ServiceNow partnership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Mar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Claude in Azure AI Foundry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Learn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GlobeNewsWire Apr 2025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Pegasus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Nov 2025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