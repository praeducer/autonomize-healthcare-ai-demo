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269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AI-Driven Prior Authorization</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sp>
        <p:nvSpPr>
          <p:cNvPr id="6" name="TextBox 5"/>
          <p:cNvSpPr txBox="1"/>
          <p:nvPr/>
        </p:nvSpPr>
        <p:spPr>
          <a:xfrm>
            <a:off x="914400" y="2400300"/>
            <a:ext cx="10360152" cy="320040"/>
          </a:xfrm>
          <a:prstGeom prst="rect">
            <a:avLst/>
          </a:prstGeom>
          <a:noFill/>
        </p:spPr>
        <p:txBody>
          <a:bodyPr wrap="square">
            <a:spAutoFit/>
          </a:bodyPr>
          <a:lstStyle/>
          <a:p>
            <a:pPr>
              <a:defRPr sz="2000" b="1">
                <a:solidFill>
                  <a:srgbClr val="29065A"/>
                </a:solidFill>
                <a:latin typeface="Calibri"/>
              </a:defRPr>
            </a:pPr>
            <a:r>
              <a:t>Solution Architecture for a Large US Health Plan</a:t>
            </a:r>
          </a:p>
        </p:txBody>
      </p:sp>
      <p:sp>
        <p:nvSpPr>
          <p:cNvPr id="7" name="TextBox 6"/>
          <p:cNvSpPr txBox="1"/>
          <p:nvPr/>
        </p:nvSpPr>
        <p:spPr>
          <a:xfrm>
            <a:off x="914400" y="2830068"/>
            <a:ext cx="10360152" cy="304800"/>
          </a:xfrm>
          <a:prstGeom prst="rect">
            <a:avLst/>
          </a:prstGeom>
          <a:noFill/>
        </p:spPr>
        <p:txBody>
          <a:bodyPr wrap="square">
            <a:spAutoFit/>
          </a:bodyPr>
          <a:lstStyle/>
          <a:p>
            <a:pPr>
              <a:defRPr sz="1600">
                <a:solidFill>
                  <a:srgbClr val="1A1A1A"/>
                </a:solidFill>
                <a:latin typeface="Calibri"/>
              </a:defRPr>
            </a:pPr>
            <a:r>
              <a:t>Paul Prae  |  Principal AI Engineer &amp; Architect</a:t>
            </a:r>
          </a:p>
        </p:txBody>
      </p:sp>
      <p:sp>
        <p:nvSpPr>
          <p:cNvPr id="8" name="TextBox 7"/>
          <p:cNvSpPr txBox="1"/>
          <p:nvPr/>
        </p:nvSpPr>
        <p:spPr>
          <a:xfrm>
            <a:off x="914400" y="3244596"/>
            <a:ext cx="10360152" cy="266700"/>
          </a:xfrm>
          <a:prstGeom prst="rect">
            <a:avLst/>
          </a:prstGeom>
          <a:noFill/>
        </p:spPr>
        <p:txBody>
          <a:bodyPr wrap="square">
            <a:spAutoFit/>
          </a:bodyPr>
          <a:lstStyle/>
          <a:p>
            <a:pPr>
              <a:defRPr sz="1400">
                <a:solidFill>
                  <a:srgbClr val="1A1A1A"/>
                </a:solidFill>
                <a:latin typeface="Calibri"/>
              </a:defRPr>
            </a:pPr>
            <a:r>
              <a:t>www.paulprae.com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The Problem &amp; Opportunity</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2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sp>
        <p:nvSpPr>
          <p:cNvPr id="6" name="TextBox 5"/>
          <p:cNvSpPr txBox="1"/>
          <p:nvPr/>
        </p:nvSpPr>
        <p:spPr>
          <a:xfrm>
            <a:off x="914400" y="960120"/>
            <a:ext cx="10360152" cy="320040"/>
          </a:xfrm>
          <a:prstGeom prst="rect">
            <a:avLst/>
          </a:prstGeom>
          <a:noFill/>
        </p:spPr>
        <p:txBody>
          <a:bodyPr wrap="square">
            <a:spAutoFit/>
          </a:bodyPr>
          <a:lstStyle/>
          <a:p>
            <a:pPr>
              <a:defRPr sz="1500" b="1">
                <a:solidFill>
                  <a:srgbClr val="29065A"/>
                </a:solidFill>
                <a:latin typeface="Calibri"/>
              </a:defRPr>
            </a:pPr>
            <a:r>
              <a:t>The Problem</a:t>
            </a:r>
          </a:p>
        </p:txBody>
      </p:sp>
      <p:sp>
        <p:nvSpPr>
          <p:cNvPr id="7" name="TextBox 6"/>
          <p:cNvSpPr txBox="1"/>
          <p:nvPr/>
        </p:nvSpPr>
        <p:spPr>
          <a:xfrm>
            <a:off x="914400" y="1389888"/>
            <a:ext cx="10360152" cy="685800"/>
          </a:xfrm>
          <a:prstGeom prst="rect">
            <a:avLst/>
          </a:prstGeom>
          <a:noFill/>
        </p:spPr>
        <p:txBody>
          <a:bodyPr wrap="square">
            <a:spAutoFit/>
          </a:bodyPr>
          <a:lstStyle/>
          <a:p>
            <a:pPr>
              <a:defRPr sz="1200">
                <a:solidFill>
                  <a:srgbClr val="1A1A1A"/>
                </a:solidFill>
                <a:latin typeface="Calibri"/>
              </a:defRPr>
            </a:pPr>
            <a:r>
              <a:t>Manual PA processing costs $10.97 per provider transaction and $3.52 per payer transaction, versus $0.05 when fully electronic (CAQH 2024). 93% of physicians report PA delays patient care (AMA 2024).</a:t>
            </a:r>
          </a:p>
        </p:txBody>
      </p:sp>
      <p:sp>
        <p:nvSpPr>
          <p:cNvPr id="8" name="TextBox 7"/>
          <p:cNvSpPr txBox="1"/>
          <p:nvPr/>
        </p:nvSpPr>
        <p:spPr>
          <a:xfrm>
            <a:off x="914400" y="2185416"/>
            <a:ext cx="10360152" cy="320040"/>
          </a:xfrm>
          <a:prstGeom prst="rect">
            <a:avLst/>
          </a:prstGeom>
          <a:noFill/>
        </p:spPr>
        <p:txBody>
          <a:bodyPr wrap="square">
            <a:spAutoFit/>
          </a:bodyPr>
          <a:lstStyle/>
          <a:p>
            <a:pPr>
              <a:defRPr sz="1500" b="1">
                <a:solidFill>
                  <a:srgbClr val="29065A"/>
                </a:solidFill>
                <a:latin typeface="Calibri"/>
              </a:defRPr>
            </a:pPr>
            <a:r>
              <a:t>The Opportunity — Altais + Autonomize AI (Feb 2026)</a:t>
            </a:r>
          </a:p>
        </p:txBody>
      </p:sp>
      <p:graphicFrame>
        <p:nvGraphicFramePr>
          <p:cNvPr id="9" name="Table 8"/>
          <p:cNvGraphicFramePr>
            <a:graphicFrameLocks noGrp="1"/>
          </p:cNvGraphicFramePr>
          <p:nvPr/>
        </p:nvGraphicFramePr>
        <p:xfrm>
          <a:off x="914400" y="2615184"/>
          <a:ext cx="10360151" cy="1280160"/>
        </p:xfrm>
        <a:graphic>
          <a:graphicData uri="http://schemas.openxmlformats.org/drawingml/2006/table">
            <a:tbl>
              <a:tblPr firstRow="1" bandRow="1">
                <a:tableStyleId>{5C22544A-7EE6-4342-B048-85BDC9FD1C3A}</a:tableStyleId>
              </a:tblPr>
              <a:tblGrid>
                <a:gridCol w="8288121">
                  <a:extLst>
                    <a:ext uri="{9D8B030D-6E8A-4147-A177-3AD203B41FA5}">
                      <a16:colId xmlns:a16="http://schemas.microsoft.com/office/drawing/2014/main" val="20000"/>
                    </a:ext>
                  </a:extLst>
                </a:gridCol>
                <a:gridCol w="2072030">
                  <a:extLst>
                    <a:ext uri="{9D8B030D-6E8A-4147-A177-3AD203B41FA5}">
                      <a16:colId xmlns:a16="http://schemas.microsoft.com/office/drawing/2014/main" val="20001"/>
                    </a:ext>
                  </a:extLst>
                </a:gridCol>
              </a:tblGrid>
              <a:tr h="320040">
                <a:tc>
                  <a:txBody>
                    <a:bodyPr/>
                    <a:lstStyle/>
                    <a:p>
                      <a:pPr algn="l">
                        <a:defRPr sz="1000" b="1">
                          <a:solidFill>
                            <a:srgbClr val="FFFFFF"/>
                          </a:solidFill>
                          <a:latin typeface="Calibri"/>
                        </a:defRPr>
                      </a:pPr>
                      <a:r>
                        <a:t>Metric</a:t>
                      </a:r>
                    </a:p>
                  </a:txBody>
                  <a:tcPr anchor="ctr">
                    <a:solidFill>
                      <a:srgbClr val="29065A"/>
                    </a:solidFill>
                  </a:tcPr>
                </a:tc>
                <a:tc>
                  <a:txBody>
                    <a:bodyPr/>
                    <a:lstStyle/>
                    <a:p>
                      <a:pPr algn="l">
                        <a:defRPr sz="1000" b="1">
                          <a:solidFill>
                            <a:srgbClr val="FFFFFF"/>
                          </a:solidFill>
                          <a:latin typeface="Calibri"/>
                        </a:defRPr>
                      </a:pPr>
                      <a:r>
                        <a:t>Result</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1000">
                          <a:solidFill>
                            <a:srgbClr val="1A1A1A"/>
                          </a:solidFill>
                          <a:latin typeface="Calibri"/>
                        </a:defRPr>
                      </a:pPr>
                      <a:r>
                        <a:t>PA review time reduction</a:t>
                      </a:r>
                    </a:p>
                  </a:txBody>
                  <a:tcPr anchor="ctr"/>
                </a:tc>
                <a:tc>
                  <a:txBody>
                    <a:bodyPr/>
                    <a:lstStyle/>
                    <a:p>
                      <a:pPr>
                        <a:defRPr sz="1000">
                          <a:solidFill>
                            <a:srgbClr val="1A1A1A"/>
                          </a:solidFill>
                          <a:latin typeface="Calibri"/>
                        </a:defRPr>
                      </a:pPr>
                      <a:r>
                        <a:t>45%</a:t>
                      </a:r>
                    </a:p>
                  </a:txBody>
                  <a:tcPr anchor="ctr"/>
                </a:tc>
                <a:extLst>
                  <a:ext uri="{0D108BD9-81ED-4DB2-BD59-A6C34878D82A}">
                    <a16:rowId xmlns:a16="http://schemas.microsoft.com/office/drawing/2014/main" val="10001"/>
                  </a:ext>
                </a:extLst>
              </a:tr>
              <a:tr h="320040">
                <a:tc>
                  <a:txBody>
                    <a:bodyPr/>
                    <a:lstStyle/>
                    <a:p>
                      <a:pPr>
                        <a:defRPr sz="1000">
                          <a:solidFill>
                            <a:srgbClr val="1A1A1A"/>
                          </a:solidFill>
                          <a:latin typeface="Calibri"/>
                        </a:defRPr>
                      </a:pPr>
                      <a:r>
                        <a:t>Manual error reduction</a:t>
                      </a:r>
                    </a:p>
                  </a:txBody>
                  <a:tcPr anchor="ctr">
                    <a:solidFill>
                      <a:srgbClr val="F5F5F5"/>
                    </a:solidFill>
                  </a:tcPr>
                </a:tc>
                <a:tc>
                  <a:txBody>
                    <a:bodyPr/>
                    <a:lstStyle/>
                    <a:p>
                      <a:pPr>
                        <a:defRPr sz="1000">
                          <a:solidFill>
                            <a:srgbClr val="1A1A1A"/>
                          </a:solidFill>
                          <a:latin typeface="Calibri"/>
                        </a:defRPr>
                      </a:pPr>
                      <a:r>
                        <a:t>54%</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1000">
                          <a:solidFill>
                            <a:srgbClr val="1A1A1A"/>
                          </a:solidFill>
                          <a:latin typeface="Calibri"/>
                        </a:defRPr>
                      </a:pPr>
                      <a:r>
                        <a:t>Auto-determination rate</a:t>
                      </a:r>
                    </a:p>
                  </a:txBody>
                  <a:tcPr anchor="ctr"/>
                </a:tc>
                <a:tc>
                  <a:txBody>
                    <a:bodyPr/>
                    <a:lstStyle/>
                    <a:p>
                      <a:pPr>
                        <a:defRPr sz="1000">
                          <a:solidFill>
                            <a:srgbClr val="1A1A1A"/>
                          </a:solidFill>
                          <a:latin typeface="Calibri"/>
                        </a:defRPr>
                      </a:pPr>
                      <a:r>
                        <a:t>50%</a:t>
                      </a:r>
                    </a:p>
                  </a:txBody>
                  <a:tcPr anchor="ctr"/>
                </a:tc>
                <a:extLst>
                  <a:ext uri="{0D108BD9-81ED-4DB2-BD59-A6C34878D82A}">
                    <a16:rowId xmlns:a16="http://schemas.microsoft.com/office/drawing/2014/main" val="10003"/>
                  </a:ext>
                </a:extLst>
              </a:tr>
            </a:tbl>
          </a:graphicData>
        </a:graphic>
      </p:graphicFrame>
      <p:sp>
        <p:nvSpPr>
          <p:cNvPr id="10" name="TextBox 9"/>
          <p:cNvSpPr txBox="1"/>
          <p:nvPr/>
        </p:nvSpPr>
        <p:spPr>
          <a:xfrm>
            <a:off x="914400" y="4005072"/>
            <a:ext cx="10360152" cy="320040"/>
          </a:xfrm>
          <a:prstGeom prst="rect">
            <a:avLst/>
          </a:prstGeom>
          <a:noFill/>
        </p:spPr>
        <p:txBody>
          <a:bodyPr wrap="square">
            <a:spAutoFit/>
          </a:bodyPr>
          <a:lstStyle/>
          <a:p>
            <a:pPr>
              <a:defRPr sz="1500" b="1">
                <a:solidFill>
                  <a:srgbClr val="29065A"/>
                </a:solidFill>
                <a:latin typeface="Calibri"/>
              </a:defRPr>
            </a:pPr>
            <a:r>
              <a:t>Why Autonomize AI</a:t>
            </a:r>
          </a:p>
        </p:txBody>
      </p:sp>
      <p:sp>
        <p:nvSpPr>
          <p:cNvPr id="11" name="TextBox 10"/>
          <p:cNvSpPr txBox="1"/>
          <p:nvPr/>
        </p:nvSpPr>
        <p:spPr>
          <a:xfrm>
            <a:off x="914400" y="4434840"/>
            <a:ext cx="10360152" cy="914400"/>
          </a:xfrm>
          <a:prstGeom prst="rect">
            <a:avLst/>
          </a:prstGeom>
          <a:noFill/>
        </p:spPr>
        <p:txBody>
          <a:bodyPr wrap="square">
            <a:spAutoFit/>
          </a:bodyPr>
          <a:lstStyle/>
          <a:p>
            <a:pPr>
              <a:defRPr sz="1200">
                <a:solidFill>
                  <a:srgbClr val="1A1A1A"/>
                </a:solidFill>
                <a:latin typeface="Calibri"/>
              </a:defRPr>
            </a:pPr>
            <a:r>
              <a:t>• Live at 3 of the 5 largest US health plans</a:t>
            </a:r>
            <a:br/>
            <a:r>
              <a:t>• PA Copilot on Azure Marketplace — Microsoft Pegasus Program member</a:t>
            </a:r>
            <a:br/>
            <a:r>
              <a:t>• ServiceNow partnership extends reach into payer workflows</a:t>
            </a:r>
            <a:br/>
            <a:r>
              <a:t>• CMS-0057-F deadline (Jan 2027) creates urgency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PA Request Lifecycle</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3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pic>
        <p:nvPicPr>
          <p:cNvPr id="6" name="Picture 5" descr="03-pa-request-flow.png"/>
          <p:cNvPicPr>
            <a:picLocks noChangeAspect="1"/>
          </p:cNvPicPr>
          <p:nvPr/>
        </p:nvPicPr>
        <p:blipFill>
          <a:blip r:embed="rId4"/>
          <a:stretch>
            <a:fillRect/>
          </a:stretch>
        </p:blipFill>
        <p:spPr>
          <a:xfrm>
            <a:off x="914400" y="960120"/>
            <a:ext cx="10360152" cy="1532879"/>
          </a:xfrm>
          <a:prstGeom prst="rect">
            <a:avLst/>
          </a:prstGeom>
        </p:spPr>
      </p:pic>
      <p:sp>
        <p:nvSpPr>
          <p:cNvPr id="7" name="Rectangle 6"/>
          <p:cNvSpPr/>
          <p:nvPr/>
        </p:nvSpPr>
        <p:spPr>
          <a:xfrm>
            <a:off x="914400" y="2602727"/>
            <a:ext cx="10360152" cy="6019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2602727"/>
            <a:ext cx="54864" cy="6019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602727"/>
            <a:ext cx="10085832" cy="601980"/>
          </a:xfrm>
          <a:prstGeom prst="rect">
            <a:avLst/>
          </a:prstGeom>
          <a:noFill/>
        </p:spPr>
        <p:txBody>
          <a:bodyPr wrap="square"/>
          <a:lstStyle/>
          <a:p>
            <a:pPr>
              <a:defRPr sz="1100">
                <a:solidFill>
                  <a:srgbClr val="1A1A1A"/>
                </a:solidFill>
                <a:latin typeface="Calibri"/>
              </a:defRPr>
            </a:pPr>
            <a:r>
              <a:t>Submit → Intake (OCR) → Validate (eligibility) → AI Review (coverage matching + confidence) → Route (auto-approve / human review / pend) → Respond (payer core + provider notification)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Demo — Proof of Concept</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4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sp>
        <p:nvSpPr>
          <p:cNvPr id="6" name="Rectangle 5"/>
          <p:cNvSpPr/>
          <p:nvPr/>
        </p:nvSpPr>
        <p:spPr>
          <a:xfrm>
            <a:off x="914400" y="960120"/>
            <a:ext cx="10360152" cy="6019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14400" y="960120"/>
            <a:ext cx="54864" cy="6019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960120"/>
            <a:ext cx="10085832" cy="601980"/>
          </a:xfrm>
          <a:prstGeom prst="rect">
            <a:avLst/>
          </a:prstGeom>
          <a:noFill/>
        </p:spPr>
        <p:txBody>
          <a:bodyPr wrap="square"/>
          <a:lstStyle/>
          <a:p>
            <a:r>
              <a:rPr sz="1100" b="1">
                <a:solidFill>
                  <a:srgbClr val="29065A"/>
                </a:solidFill>
                <a:latin typeface="Calibri"/>
              </a:rPr>
              <a:t>LIVE DEMO: </a:t>
            </a:r>
            <a:r>
              <a:rPr sz="1100">
                <a:solidFill>
                  <a:srgbClr val="1A1A1A"/>
                </a:solidFill>
                <a:latin typeface="Calibri"/>
              </a:rPr>
              <a:t>Working proof of concept — demonstrates core clinical review (steps 4-5 of the lifecycle).</a:t>
            </a:r>
          </a:p>
        </p:txBody>
      </p:sp>
      <p:pic>
        <p:nvPicPr>
          <p:cNvPr id="9" name="Picture 8" descr="07-demo-architecture.png"/>
          <p:cNvPicPr>
            <a:picLocks noChangeAspect="1"/>
          </p:cNvPicPr>
          <p:nvPr/>
        </p:nvPicPr>
        <p:blipFill>
          <a:blip r:embed="rId4"/>
          <a:stretch>
            <a:fillRect/>
          </a:stretch>
        </p:blipFill>
        <p:spPr>
          <a:xfrm>
            <a:off x="4153188" y="1671828"/>
            <a:ext cx="3882574" cy="2560320"/>
          </a:xfrm>
          <a:prstGeom prst="rect">
            <a:avLst/>
          </a:prstGeom>
        </p:spPr>
      </p:pic>
      <p:graphicFrame>
        <p:nvGraphicFramePr>
          <p:cNvPr id="10" name="Table 9"/>
          <p:cNvGraphicFramePr>
            <a:graphicFrameLocks noGrp="1"/>
          </p:cNvGraphicFramePr>
          <p:nvPr/>
        </p:nvGraphicFramePr>
        <p:xfrm>
          <a:off x="914400" y="4341876"/>
          <a:ext cx="10360151" cy="1600200"/>
        </p:xfrm>
        <a:graphic>
          <a:graphicData uri="http://schemas.openxmlformats.org/drawingml/2006/table">
            <a:tbl>
              <a:tblPr firstRow="1" bandRow="1">
                <a:tableStyleId>{5C22544A-7EE6-4342-B048-85BDC9FD1C3A}</a:tableStyleId>
              </a:tblPr>
              <a:tblGrid>
                <a:gridCol w="4763288">
                  <a:extLst>
                    <a:ext uri="{9D8B030D-6E8A-4147-A177-3AD203B41FA5}">
                      <a16:colId xmlns:a16="http://schemas.microsoft.com/office/drawing/2014/main" val="20000"/>
                    </a:ext>
                  </a:extLst>
                </a:gridCol>
                <a:gridCol w="5596863">
                  <a:extLst>
                    <a:ext uri="{9D8B030D-6E8A-4147-A177-3AD203B41FA5}">
                      <a16:colId xmlns:a16="http://schemas.microsoft.com/office/drawing/2014/main" val="20001"/>
                    </a:ext>
                  </a:extLst>
                </a:gridCol>
              </a:tblGrid>
              <a:tr h="320040">
                <a:tc>
                  <a:txBody>
                    <a:bodyPr/>
                    <a:lstStyle/>
                    <a:p>
                      <a:pPr algn="l">
                        <a:defRPr sz="900" b="1">
                          <a:solidFill>
                            <a:srgbClr val="FFFFFF"/>
                          </a:solidFill>
                          <a:latin typeface="Calibri"/>
                        </a:defRPr>
                      </a:pPr>
                      <a:r>
                        <a:t>Demo Scope (Phase 0)</a:t>
                      </a:r>
                    </a:p>
                  </a:txBody>
                  <a:tcPr anchor="ctr">
                    <a:solidFill>
                      <a:srgbClr val="29065A"/>
                    </a:solidFill>
                  </a:tcPr>
                </a:tc>
                <a:tc>
                  <a:txBody>
                    <a:bodyPr/>
                    <a:lstStyle/>
                    <a:p>
                      <a:pPr algn="l">
                        <a:defRPr sz="900" b="1">
                          <a:solidFill>
                            <a:srgbClr val="FFFFFF"/>
                          </a:solidFill>
                          <a:latin typeface="Calibri"/>
                        </a:defRPr>
                      </a:pPr>
                      <a:r>
                        <a:t>Production Differences</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900">
                          <a:solidFill>
                            <a:srgbClr val="1A1A1A"/>
                          </a:solidFill>
                          <a:latin typeface="Calibri"/>
                        </a:defRPr>
                      </a:pPr>
                      <a:r>
                        <a:t>5 PA cases with real ICD-10/CPT codes</a:t>
                      </a:r>
                    </a:p>
                  </a:txBody>
                  <a:tcPr anchor="ctr"/>
                </a:tc>
                <a:tc>
                  <a:txBody>
                    <a:bodyPr/>
                    <a:lstStyle/>
                    <a:p>
                      <a:pPr>
                        <a:defRPr sz="900">
                          <a:solidFill>
                            <a:srgbClr val="1A1A1A"/>
                          </a:solidFill>
                          <a:latin typeface="Calibri"/>
                        </a:defRPr>
                      </a:pPr>
                      <a:r>
                        <a:t>Mock eligibility → Payer Core integration</a:t>
                      </a:r>
                    </a:p>
                  </a:txBody>
                  <a:tcPr anchor="ctr"/>
                </a:tc>
                <a:extLst>
                  <a:ext uri="{0D108BD9-81ED-4DB2-BD59-A6C34878D82A}">
                    <a16:rowId xmlns:a16="http://schemas.microsoft.com/office/drawing/2014/main" val="10001"/>
                  </a:ext>
                </a:extLst>
              </a:tr>
              <a:tr h="320040">
                <a:tc>
                  <a:txBody>
                    <a:bodyPr/>
                    <a:lstStyle/>
                    <a:p>
                      <a:pPr>
                        <a:defRPr sz="900">
                          <a:solidFill>
                            <a:srgbClr val="1A1A1A"/>
                          </a:solidFill>
                          <a:latin typeface="Calibri"/>
                        </a:defRPr>
                      </a:pPr>
                      <a:r>
                        <a:t>AI reviews in ~30s via Claude tool use</a:t>
                      </a:r>
                    </a:p>
                  </a:txBody>
                  <a:tcPr anchor="ctr">
                    <a:solidFill>
                      <a:srgbClr val="F5F5F5"/>
                    </a:solidFill>
                  </a:tcPr>
                </a:tc>
                <a:tc>
                  <a:txBody>
                    <a:bodyPr/>
                    <a:lstStyle/>
                    <a:p>
                      <a:pPr>
                        <a:defRPr sz="900">
                          <a:solidFill>
                            <a:srgbClr val="1A1A1A"/>
                          </a:solidFill>
                          <a:latin typeface="Calibri"/>
                        </a:defRPr>
                      </a:pPr>
                      <a:r>
                        <a:t>Local criteria → CMS Coverage Database API</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900">
                          <a:solidFill>
                            <a:srgbClr val="1A1A1A"/>
                          </a:solidFill>
                          <a:latin typeface="Calibri"/>
                        </a:defRPr>
                      </a:pPr>
                      <a:r>
                        <a:t>FHIR R4 data models (fhir.resources R4B)</a:t>
                      </a:r>
                    </a:p>
                  </a:txBody>
                  <a:tcPr anchor="ctr"/>
                </a:tc>
                <a:tc>
                  <a:txBody>
                    <a:bodyPr/>
                    <a:lstStyle/>
                    <a:p>
                      <a:pPr>
                        <a:defRPr sz="900">
                          <a:solidFill>
                            <a:srgbClr val="1A1A1A"/>
                          </a:solidFill>
                          <a:latin typeface="Calibri"/>
                        </a:defRPr>
                      </a:pPr>
                      <a:r>
                        <a:t>Synthetic data → real clinical records via FHIR</a:t>
                      </a:r>
                    </a:p>
                  </a:txBody>
                  <a:tcPr anchor="ctr"/>
                </a:tc>
                <a:extLst>
                  <a:ext uri="{0D108BD9-81ED-4DB2-BD59-A6C34878D82A}">
                    <a16:rowId xmlns:a16="http://schemas.microsoft.com/office/drawing/2014/main" val="10003"/>
                  </a:ext>
                </a:extLst>
              </a:tr>
              <a:tr h="320040">
                <a:tc>
                  <a:txBody>
                    <a:bodyPr/>
                    <a:lstStyle/>
                    <a:p>
                      <a:pPr>
                        <a:defRPr sz="900">
                          <a:solidFill>
                            <a:srgbClr val="1A1A1A"/>
                          </a:solidFill>
                          <a:latin typeface="Calibri"/>
                        </a:defRPr>
                      </a:pPr>
                      <a:r>
                        <a:t>CLI, REST API + Swagger, Web Dashboard</a:t>
                      </a:r>
                    </a:p>
                  </a:txBody>
                  <a:tcPr anchor="ctr">
                    <a:solidFill>
                      <a:srgbClr val="F5F5F5"/>
                    </a:solidFill>
                  </a:tcPr>
                </a:tc>
                <a:tc>
                  <a:txBody>
                    <a:bodyPr/>
                    <a:lstStyle/>
                    <a:p>
                      <a:pPr>
                        <a:defRPr sz="900">
                          <a:solidFill>
                            <a:srgbClr val="1A1A1A"/>
                          </a:solidFill>
                          <a:latin typeface="Calibri"/>
                        </a:defRPr>
                      </a:pPr>
                      <a:r>
                        <a:t>Single-user → Azure Container Apps + auto-scale</a:t>
                      </a:r>
                    </a:p>
                  </a:txBody>
                  <a:tcPr anchor="ctr">
                    <a:solidFill>
                      <a:srgbClr val="F5F5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System Context</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5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pic>
        <p:nvPicPr>
          <p:cNvPr id="6" name="Picture 5" descr="01-system-context.png"/>
          <p:cNvPicPr>
            <a:picLocks noChangeAspect="1"/>
          </p:cNvPicPr>
          <p:nvPr/>
        </p:nvPicPr>
        <p:blipFill>
          <a:blip r:embed="rId4"/>
          <a:stretch>
            <a:fillRect/>
          </a:stretch>
        </p:blipFill>
        <p:spPr>
          <a:xfrm>
            <a:off x="914400" y="960120"/>
            <a:ext cx="10360152" cy="2669324"/>
          </a:xfrm>
          <a:prstGeom prst="rect">
            <a:avLst/>
          </a:prstGeom>
        </p:spPr>
      </p:pic>
      <p:sp>
        <p:nvSpPr>
          <p:cNvPr id="7" name="Rectangle 6"/>
          <p:cNvSpPr/>
          <p:nvPr/>
        </p:nvSpPr>
        <p:spPr>
          <a:xfrm>
            <a:off x="914400" y="3739172"/>
            <a:ext cx="10360152" cy="10210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3739172"/>
            <a:ext cx="54864" cy="10210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739172"/>
            <a:ext cx="10085832" cy="1021080"/>
          </a:xfrm>
          <a:prstGeom prst="rect">
            <a:avLst/>
          </a:prstGeom>
          <a:noFill/>
        </p:spPr>
        <p:txBody>
          <a:bodyPr wrap="square"/>
          <a:lstStyle/>
          <a:p>
            <a:pPr>
              <a:defRPr sz="1100">
                <a:solidFill>
                  <a:srgbClr val="1A1A1A"/>
                </a:solidFill>
                <a:latin typeface="Calibri"/>
              </a:defRPr>
            </a:pPr>
            <a:r>
              <a:t>Four actors, one platform. Providers submit PA requests. The Payer Core provides eligibility and receives determinations. Clinical data sources feed FHIR R4 records. CMS receives compliance reporting. Autonomize PA Copilot sits in the center — automating the clinical review, not replacing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Solution Architecture</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6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pic>
        <p:nvPicPr>
          <p:cNvPr id="6" name="Picture 5" descr="02-component-architecture.png"/>
          <p:cNvPicPr>
            <a:picLocks noChangeAspect="1"/>
          </p:cNvPicPr>
          <p:nvPr/>
        </p:nvPicPr>
        <p:blipFill>
          <a:blip r:embed="rId4"/>
          <a:stretch>
            <a:fillRect/>
          </a:stretch>
        </p:blipFill>
        <p:spPr>
          <a:xfrm>
            <a:off x="4384635" y="960120"/>
            <a:ext cx="3419681"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Solution Architecture — Components</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7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graphicFrame>
        <p:nvGraphicFramePr>
          <p:cNvPr id="6" name="Table 5"/>
          <p:cNvGraphicFramePr>
            <a:graphicFrameLocks noGrp="1"/>
          </p:cNvGraphicFramePr>
          <p:nvPr/>
        </p:nvGraphicFramePr>
        <p:xfrm>
          <a:off x="914400" y="960120"/>
          <a:ext cx="10360150" cy="3520440"/>
        </p:xfrm>
        <a:graphic>
          <a:graphicData uri="http://schemas.openxmlformats.org/drawingml/2006/table">
            <a:tbl>
              <a:tblPr firstRow="1" bandRow="1">
                <a:tableStyleId>{5C22544A-7EE6-4342-B048-85BDC9FD1C3A}</a:tableStyleId>
              </a:tblPr>
              <a:tblGrid>
                <a:gridCol w="3278529">
                  <a:extLst>
                    <a:ext uri="{9D8B030D-6E8A-4147-A177-3AD203B41FA5}">
                      <a16:colId xmlns:a16="http://schemas.microsoft.com/office/drawing/2014/main" val="20000"/>
                    </a:ext>
                  </a:extLst>
                </a:gridCol>
                <a:gridCol w="3934234">
                  <a:extLst>
                    <a:ext uri="{9D8B030D-6E8A-4147-A177-3AD203B41FA5}">
                      <a16:colId xmlns:a16="http://schemas.microsoft.com/office/drawing/2014/main" val="20001"/>
                    </a:ext>
                  </a:extLst>
                </a:gridCol>
                <a:gridCol w="3147387">
                  <a:extLst>
                    <a:ext uri="{9D8B030D-6E8A-4147-A177-3AD203B41FA5}">
                      <a16:colId xmlns:a16="http://schemas.microsoft.com/office/drawing/2014/main" val="20002"/>
                    </a:ext>
                  </a:extLst>
                </a:gridCol>
              </a:tblGrid>
              <a:tr h="320040">
                <a:tc>
                  <a:txBody>
                    <a:bodyPr/>
                    <a:lstStyle/>
                    <a:p>
                      <a:pPr algn="l">
                        <a:defRPr sz="1000" b="1">
                          <a:solidFill>
                            <a:srgbClr val="FFFFFF"/>
                          </a:solidFill>
                          <a:latin typeface="Calibri"/>
                        </a:defRPr>
                      </a:pPr>
                      <a:r>
                        <a:t>Component</a:t>
                      </a:r>
                    </a:p>
                  </a:txBody>
                  <a:tcPr anchor="ctr">
                    <a:solidFill>
                      <a:srgbClr val="29065A"/>
                    </a:solidFill>
                  </a:tcPr>
                </a:tc>
                <a:tc>
                  <a:txBody>
                    <a:bodyPr/>
                    <a:lstStyle/>
                    <a:p>
                      <a:pPr algn="l">
                        <a:defRPr sz="1000" b="1">
                          <a:solidFill>
                            <a:srgbClr val="FFFFFF"/>
                          </a:solidFill>
                          <a:latin typeface="Calibri"/>
                        </a:defRPr>
                      </a:pPr>
                      <a:r>
                        <a:t>Azure Service</a:t>
                      </a:r>
                    </a:p>
                  </a:txBody>
                  <a:tcPr anchor="ctr">
                    <a:solidFill>
                      <a:srgbClr val="29065A"/>
                    </a:solidFill>
                  </a:tcPr>
                </a:tc>
                <a:tc>
                  <a:txBody>
                    <a:bodyPr/>
                    <a:lstStyle/>
                    <a:p>
                      <a:pPr algn="l">
                        <a:defRPr sz="1000" b="1">
                          <a:solidFill>
                            <a:srgbClr val="FFFFFF"/>
                          </a:solidFill>
                          <a:latin typeface="Calibri"/>
                        </a:defRPr>
                      </a:pPr>
                      <a:r>
                        <a:t>Purpose</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1000">
                          <a:solidFill>
                            <a:srgbClr val="1A1A1A"/>
                          </a:solidFill>
                          <a:latin typeface="Calibri"/>
                        </a:defRPr>
                      </a:pPr>
                      <a:r>
                        <a:t>Ingestion Gateway</a:t>
                      </a:r>
                    </a:p>
                  </a:txBody>
                  <a:tcPr anchor="ctr"/>
                </a:tc>
                <a:tc>
                  <a:txBody>
                    <a:bodyPr/>
                    <a:lstStyle/>
                    <a:p>
                      <a:pPr>
                        <a:defRPr sz="1000">
                          <a:solidFill>
                            <a:srgbClr val="1A1A1A"/>
                          </a:solidFill>
                          <a:latin typeface="Calibri"/>
                        </a:defRPr>
                      </a:pPr>
                      <a:r>
                        <a:t>API Mgmt + Functions</a:t>
                      </a:r>
                    </a:p>
                  </a:txBody>
                  <a:tcPr anchor="ctr"/>
                </a:tc>
                <a:tc>
                  <a:txBody>
                    <a:bodyPr/>
                    <a:lstStyle/>
                    <a:p>
                      <a:pPr>
                        <a:defRPr sz="1000">
                          <a:solidFill>
                            <a:srgbClr val="1A1A1A"/>
                          </a:solidFill>
                          <a:latin typeface="Calibri"/>
                        </a:defRPr>
                      </a:pPr>
                      <a:r>
                        <a:t>Receives all PA channels</a:t>
                      </a:r>
                    </a:p>
                  </a:txBody>
                  <a:tcPr anchor="ctr"/>
                </a:tc>
                <a:extLst>
                  <a:ext uri="{0D108BD9-81ED-4DB2-BD59-A6C34878D82A}">
                    <a16:rowId xmlns:a16="http://schemas.microsoft.com/office/drawing/2014/main" val="10001"/>
                  </a:ext>
                </a:extLst>
              </a:tr>
              <a:tr h="320040">
                <a:tc>
                  <a:txBody>
                    <a:bodyPr/>
                    <a:lstStyle/>
                    <a:p>
                      <a:pPr>
                        <a:defRPr sz="1000">
                          <a:solidFill>
                            <a:srgbClr val="1A1A1A"/>
                          </a:solidFill>
                          <a:latin typeface="Calibri"/>
                        </a:defRPr>
                      </a:pPr>
                      <a:r>
                        <a:t>Document Processing</a:t>
                      </a:r>
                    </a:p>
                  </a:txBody>
                  <a:tcPr anchor="ctr">
                    <a:solidFill>
                      <a:srgbClr val="F5F5F5"/>
                    </a:solidFill>
                  </a:tcPr>
                </a:tc>
                <a:tc>
                  <a:txBody>
                    <a:bodyPr/>
                    <a:lstStyle/>
                    <a:p>
                      <a:pPr>
                        <a:defRPr sz="1000">
                          <a:solidFill>
                            <a:srgbClr val="1A1A1A"/>
                          </a:solidFill>
                          <a:latin typeface="Calibri"/>
                        </a:defRPr>
                      </a:pPr>
                      <a:r>
                        <a:t>AI Document Intelligence</a:t>
                      </a:r>
                    </a:p>
                  </a:txBody>
                  <a:tcPr anchor="ctr">
                    <a:solidFill>
                      <a:srgbClr val="F5F5F5"/>
                    </a:solidFill>
                  </a:tcPr>
                </a:tc>
                <a:tc>
                  <a:txBody>
                    <a:bodyPr/>
                    <a:lstStyle/>
                    <a:p>
                      <a:pPr>
                        <a:defRPr sz="1000">
                          <a:solidFill>
                            <a:srgbClr val="1A1A1A"/>
                          </a:solidFill>
                          <a:latin typeface="Calibri"/>
                        </a:defRPr>
                      </a:pPr>
                      <a:r>
                        <a:t>OCR for faxes</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1000">
                          <a:solidFill>
                            <a:srgbClr val="1A1A1A"/>
                          </a:solidFill>
                          <a:latin typeface="Calibri"/>
                        </a:defRPr>
                      </a:pPr>
                      <a:r>
                        <a:t>Eligibility Service</a:t>
                      </a:r>
                    </a:p>
                  </a:txBody>
                  <a:tcPr anchor="ctr"/>
                </a:tc>
                <a:tc>
                  <a:txBody>
                    <a:bodyPr/>
                    <a:lstStyle/>
                    <a:p>
                      <a:pPr>
                        <a:defRPr sz="1000">
                          <a:solidFill>
                            <a:srgbClr val="1A1A1A"/>
                          </a:solidFill>
                          <a:latin typeface="Calibri"/>
                        </a:defRPr>
                      </a:pPr>
                      <a:r>
                        <a:t>Payer Core REST API</a:t>
                      </a:r>
                    </a:p>
                  </a:txBody>
                  <a:tcPr anchor="ctr"/>
                </a:tc>
                <a:tc>
                  <a:txBody>
                    <a:bodyPr/>
                    <a:lstStyle/>
                    <a:p>
                      <a:pPr>
                        <a:defRPr sz="1000">
                          <a:solidFill>
                            <a:srgbClr val="1A1A1A"/>
                          </a:solidFill>
                          <a:latin typeface="Calibri"/>
                        </a:defRPr>
                      </a:pPr>
                      <a:r>
                        <a:t>Member validation</a:t>
                      </a:r>
                    </a:p>
                  </a:txBody>
                  <a:tcPr anchor="ctr"/>
                </a:tc>
                <a:extLst>
                  <a:ext uri="{0D108BD9-81ED-4DB2-BD59-A6C34878D82A}">
                    <a16:rowId xmlns:a16="http://schemas.microsoft.com/office/drawing/2014/main" val="10003"/>
                  </a:ext>
                </a:extLst>
              </a:tr>
              <a:tr h="320040">
                <a:tc>
                  <a:txBody>
                    <a:bodyPr/>
                    <a:lstStyle/>
                    <a:p>
                      <a:pPr>
                        <a:defRPr sz="1000">
                          <a:solidFill>
                            <a:srgbClr val="1A1A1A"/>
                          </a:solidFill>
                          <a:latin typeface="Calibri"/>
                        </a:defRPr>
                      </a:pPr>
                      <a:r>
                        <a:t>Clinical Data Aggregation</a:t>
                      </a:r>
                    </a:p>
                  </a:txBody>
                  <a:tcPr anchor="ctr">
                    <a:solidFill>
                      <a:srgbClr val="F5F5F5"/>
                    </a:solidFill>
                  </a:tcPr>
                </a:tc>
                <a:tc>
                  <a:txBody>
                    <a:bodyPr/>
                    <a:lstStyle/>
                    <a:p>
                      <a:pPr>
                        <a:defRPr sz="1000">
                          <a:solidFill>
                            <a:srgbClr val="1A1A1A"/>
                          </a:solidFill>
                          <a:latin typeface="Calibri"/>
                        </a:defRPr>
                      </a:pPr>
                      <a:r>
                        <a:t>Health Data Services (FHIR R4)</a:t>
                      </a:r>
                    </a:p>
                  </a:txBody>
                  <a:tcPr anchor="ctr">
                    <a:solidFill>
                      <a:srgbClr val="F5F5F5"/>
                    </a:solidFill>
                  </a:tcPr>
                </a:tc>
                <a:tc>
                  <a:txBody>
                    <a:bodyPr/>
                    <a:lstStyle/>
                    <a:p>
                      <a:pPr>
                        <a:defRPr sz="1000">
                          <a:solidFill>
                            <a:srgbClr val="1A1A1A"/>
                          </a:solidFill>
                          <a:latin typeface="Calibri"/>
                        </a:defRPr>
                      </a:pPr>
                      <a:r>
                        <a:t>Unified clinical context</a:t>
                      </a:r>
                    </a:p>
                  </a:txBody>
                  <a:tcPr anchor="ctr">
                    <a:solidFill>
                      <a:srgbClr val="F5F5F5"/>
                    </a:solidFill>
                  </a:tcPr>
                </a:tc>
                <a:extLst>
                  <a:ext uri="{0D108BD9-81ED-4DB2-BD59-A6C34878D82A}">
                    <a16:rowId xmlns:a16="http://schemas.microsoft.com/office/drawing/2014/main" val="10004"/>
                  </a:ext>
                </a:extLst>
              </a:tr>
              <a:tr h="320040">
                <a:tc>
                  <a:txBody>
                    <a:bodyPr/>
                    <a:lstStyle/>
                    <a:p>
                      <a:pPr>
                        <a:defRPr sz="1000">
                          <a:solidFill>
                            <a:srgbClr val="1A1A1A"/>
                          </a:solidFill>
                          <a:latin typeface="Calibri"/>
                        </a:defRPr>
                      </a:pPr>
                      <a:r>
                        <a:t>PA Copilot</a:t>
                      </a:r>
                    </a:p>
                  </a:txBody>
                  <a:tcPr anchor="ctr"/>
                </a:tc>
                <a:tc>
                  <a:txBody>
                    <a:bodyPr/>
                    <a:lstStyle/>
                    <a:p>
                      <a:pPr>
                        <a:defRPr sz="1000">
                          <a:solidFill>
                            <a:srgbClr val="1A1A1A"/>
                          </a:solidFill>
                          <a:latin typeface="Calibri"/>
                        </a:defRPr>
                      </a:pPr>
                      <a:r>
                        <a:t>Genesis Platform + Claude</a:t>
                      </a:r>
                    </a:p>
                  </a:txBody>
                  <a:tcPr anchor="ctr"/>
                </a:tc>
                <a:tc>
                  <a:txBody>
                    <a:bodyPr/>
                    <a:lstStyle/>
                    <a:p>
                      <a:pPr>
                        <a:defRPr sz="1000">
                          <a:solidFill>
                            <a:srgbClr val="1A1A1A"/>
                          </a:solidFill>
                          <a:latin typeface="Calibri"/>
                        </a:defRPr>
                      </a:pPr>
                      <a:r>
                        <a:t>AI clinical review</a:t>
                      </a:r>
                    </a:p>
                  </a:txBody>
                  <a:tcPr anchor="ctr"/>
                </a:tc>
                <a:extLst>
                  <a:ext uri="{0D108BD9-81ED-4DB2-BD59-A6C34878D82A}">
                    <a16:rowId xmlns:a16="http://schemas.microsoft.com/office/drawing/2014/main" val="10005"/>
                  </a:ext>
                </a:extLst>
              </a:tr>
              <a:tr h="320040">
                <a:tc>
                  <a:txBody>
                    <a:bodyPr/>
                    <a:lstStyle/>
                    <a:p>
                      <a:pPr>
                        <a:defRPr sz="1000">
                          <a:solidFill>
                            <a:srgbClr val="1A1A1A"/>
                          </a:solidFill>
                          <a:latin typeface="Calibri"/>
                        </a:defRPr>
                      </a:pPr>
                      <a:r>
                        <a:t>Determination Router</a:t>
                      </a:r>
                    </a:p>
                  </a:txBody>
                  <a:tcPr anchor="ctr">
                    <a:solidFill>
                      <a:srgbClr val="F5F5F5"/>
                    </a:solidFill>
                  </a:tcPr>
                </a:tc>
                <a:tc>
                  <a:txBody>
                    <a:bodyPr/>
                    <a:lstStyle/>
                    <a:p>
                      <a:pPr>
                        <a:defRPr sz="1000">
                          <a:solidFill>
                            <a:srgbClr val="1A1A1A"/>
                          </a:solidFill>
                          <a:latin typeface="Calibri"/>
                        </a:defRPr>
                      </a:pPr>
                      <a:r>
                        <a:t>Functions + Rules</a:t>
                      </a:r>
                    </a:p>
                  </a:txBody>
                  <a:tcPr anchor="ctr">
                    <a:solidFill>
                      <a:srgbClr val="F5F5F5"/>
                    </a:solidFill>
                  </a:tcPr>
                </a:tc>
                <a:tc>
                  <a:txBody>
                    <a:bodyPr/>
                    <a:lstStyle/>
                    <a:p>
                      <a:pPr>
                        <a:defRPr sz="1000">
                          <a:solidFill>
                            <a:srgbClr val="1A1A1A"/>
                          </a:solidFill>
                          <a:latin typeface="Calibri"/>
                        </a:defRPr>
                      </a:pPr>
                      <a:r>
                        <a:t>Confidence-based routing</a:t>
                      </a:r>
                    </a:p>
                  </a:txBody>
                  <a:tcPr anchor="ctr">
                    <a:solidFill>
                      <a:srgbClr val="F5F5F5"/>
                    </a:solidFill>
                  </a:tcPr>
                </a:tc>
                <a:extLst>
                  <a:ext uri="{0D108BD9-81ED-4DB2-BD59-A6C34878D82A}">
                    <a16:rowId xmlns:a16="http://schemas.microsoft.com/office/drawing/2014/main" val="10006"/>
                  </a:ext>
                </a:extLst>
              </a:tr>
              <a:tr h="320040">
                <a:tc>
                  <a:txBody>
                    <a:bodyPr/>
                    <a:lstStyle/>
                    <a:p>
                      <a:pPr>
                        <a:defRPr sz="1000">
                          <a:solidFill>
                            <a:srgbClr val="1A1A1A"/>
                          </a:solidFill>
                          <a:latin typeface="Calibri"/>
                        </a:defRPr>
                      </a:pPr>
                      <a:r>
                        <a:t>Clinical Review Dashboard</a:t>
                      </a:r>
                    </a:p>
                  </a:txBody>
                  <a:tcPr anchor="ctr"/>
                </a:tc>
                <a:tc>
                  <a:txBody>
                    <a:bodyPr/>
                    <a:lstStyle/>
                    <a:p>
                      <a:pPr>
                        <a:defRPr sz="1000">
                          <a:solidFill>
                            <a:srgbClr val="1A1A1A"/>
                          </a:solidFill>
                          <a:latin typeface="Calibri"/>
                        </a:defRPr>
                      </a:pPr>
                      <a:r>
                        <a:t>Autonomize AI Studio</a:t>
                      </a:r>
                    </a:p>
                  </a:txBody>
                  <a:tcPr anchor="ctr"/>
                </a:tc>
                <a:tc>
                  <a:txBody>
                    <a:bodyPr/>
                    <a:lstStyle/>
                    <a:p>
                      <a:pPr>
                        <a:defRPr sz="1000">
                          <a:solidFill>
                            <a:srgbClr val="1A1A1A"/>
                          </a:solidFill>
                          <a:latin typeface="Calibri"/>
                        </a:defRPr>
                      </a:pPr>
                      <a:r>
                        <a:t>Human reviewer interface</a:t>
                      </a:r>
                    </a:p>
                  </a:txBody>
                  <a:tcPr anchor="ctr"/>
                </a:tc>
                <a:extLst>
                  <a:ext uri="{0D108BD9-81ED-4DB2-BD59-A6C34878D82A}">
                    <a16:rowId xmlns:a16="http://schemas.microsoft.com/office/drawing/2014/main" val="10007"/>
                  </a:ext>
                </a:extLst>
              </a:tr>
              <a:tr h="320040">
                <a:tc>
                  <a:txBody>
                    <a:bodyPr/>
                    <a:lstStyle/>
                    <a:p>
                      <a:pPr>
                        <a:defRPr sz="1000">
                          <a:solidFill>
                            <a:srgbClr val="1A1A1A"/>
                          </a:solidFill>
                          <a:latin typeface="Calibri"/>
                        </a:defRPr>
                      </a:pPr>
                      <a:r>
                        <a:t>Determination Response</a:t>
                      </a:r>
                    </a:p>
                  </a:txBody>
                  <a:tcPr anchor="ctr">
                    <a:solidFill>
                      <a:srgbClr val="F5F5F5"/>
                    </a:solidFill>
                  </a:tcPr>
                </a:tc>
                <a:tc>
                  <a:txBody>
                    <a:bodyPr/>
                    <a:lstStyle/>
                    <a:p>
                      <a:pPr>
                        <a:defRPr sz="1000">
                          <a:solidFill>
                            <a:srgbClr val="1A1A1A"/>
                          </a:solidFill>
                          <a:latin typeface="Calibri"/>
                        </a:defRPr>
                      </a:pPr>
                      <a:r>
                        <a:t>Azure Functions</a:t>
                      </a:r>
                    </a:p>
                  </a:txBody>
                  <a:tcPr anchor="ctr">
                    <a:solidFill>
                      <a:srgbClr val="F5F5F5"/>
                    </a:solidFill>
                  </a:tcPr>
                </a:tc>
                <a:tc>
                  <a:txBody>
                    <a:bodyPr/>
                    <a:lstStyle/>
                    <a:p>
                      <a:pPr>
                        <a:defRPr sz="1000">
                          <a:solidFill>
                            <a:srgbClr val="1A1A1A"/>
                          </a:solidFill>
                          <a:latin typeface="Calibri"/>
                        </a:defRPr>
                      </a:pPr>
                      <a:r>
                        <a:t>Payer Core writeback</a:t>
                      </a:r>
                    </a:p>
                  </a:txBody>
                  <a:tcPr anchor="ctr">
                    <a:solidFill>
                      <a:srgbClr val="F5F5F5"/>
                    </a:solidFill>
                  </a:tcPr>
                </a:tc>
                <a:extLst>
                  <a:ext uri="{0D108BD9-81ED-4DB2-BD59-A6C34878D82A}">
                    <a16:rowId xmlns:a16="http://schemas.microsoft.com/office/drawing/2014/main" val="10008"/>
                  </a:ext>
                </a:extLst>
              </a:tr>
              <a:tr h="320040">
                <a:tc>
                  <a:txBody>
                    <a:bodyPr/>
                    <a:lstStyle/>
                    <a:p>
                      <a:pPr>
                        <a:defRPr sz="1000">
                          <a:solidFill>
                            <a:srgbClr val="1A1A1A"/>
                          </a:solidFill>
                          <a:latin typeface="Calibri"/>
                        </a:defRPr>
                      </a:pPr>
                      <a:r>
                        <a:t>LLMOps Pipeline</a:t>
                      </a:r>
                    </a:p>
                  </a:txBody>
                  <a:tcPr anchor="ctr"/>
                </a:tc>
                <a:tc>
                  <a:txBody>
                    <a:bodyPr/>
                    <a:lstStyle/>
                    <a:p>
                      <a:pPr>
                        <a:defRPr sz="1000">
                          <a:solidFill>
                            <a:srgbClr val="1A1A1A"/>
                          </a:solidFill>
                          <a:latin typeface="Calibri"/>
                        </a:defRPr>
                      </a:pPr>
                      <a:r>
                        <a:t>Azure Monitor + Evals</a:t>
                      </a:r>
                    </a:p>
                  </a:txBody>
                  <a:tcPr anchor="ctr"/>
                </a:tc>
                <a:tc>
                  <a:txBody>
                    <a:bodyPr/>
                    <a:lstStyle/>
                    <a:p>
                      <a:pPr>
                        <a:defRPr sz="1000">
                          <a:solidFill>
                            <a:srgbClr val="1A1A1A"/>
                          </a:solidFill>
                          <a:latin typeface="Calibri"/>
                        </a:defRPr>
                      </a:pPr>
                      <a:r>
                        <a:t>Performance monitoring</a:t>
                      </a:r>
                    </a:p>
                  </a:txBody>
                  <a:tcPr anchor="ctr"/>
                </a:tc>
                <a:extLst>
                  <a:ext uri="{0D108BD9-81ED-4DB2-BD59-A6C34878D82A}">
                    <a16:rowId xmlns:a16="http://schemas.microsoft.com/office/drawing/2014/main" val="10009"/>
                  </a:ext>
                </a:extLst>
              </a:tr>
              <a:tr h="320040">
                <a:tc>
                  <a:txBody>
                    <a:bodyPr/>
                    <a:lstStyle/>
                    <a:p>
                      <a:pPr>
                        <a:defRPr sz="1000">
                          <a:solidFill>
                            <a:srgbClr val="1A1A1A"/>
                          </a:solidFill>
                          <a:latin typeface="Calibri"/>
                        </a:defRPr>
                      </a:pPr>
                      <a:r>
                        <a:t>Audit &amp; Compliance</a:t>
                      </a:r>
                    </a:p>
                  </a:txBody>
                  <a:tcPr anchor="ctr">
                    <a:solidFill>
                      <a:srgbClr val="F5F5F5"/>
                    </a:solidFill>
                  </a:tcPr>
                </a:tc>
                <a:tc>
                  <a:txBody>
                    <a:bodyPr/>
                    <a:lstStyle/>
                    <a:p>
                      <a:pPr>
                        <a:defRPr sz="1000">
                          <a:solidFill>
                            <a:srgbClr val="1A1A1A"/>
                          </a:solidFill>
                          <a:latin typeface="Calibri"/>
                        </a:defRPr>
                      </a:pPr>
                      <a:r>
                        <a:t>Immutable Blob Storage</a:t>
                      </a:r>
                    </a:p>
                  </a:txBody>
                  <a:tcPr anchor="ctr">
                    <a:solidFill>
                      <a:srgbClr val="F5F5F5"/>
                    </a:solidFill>
                  </a:tcPr>
                </a:tc>
                <a:tc>
                  <a:txBody>
                    <a:bodyPr/>
                    <a:lstStyle/>
                    <a:p>
                      <a:pPr>
                        <a:defRPr sz="1000">
                          <a:solidFill>
                            <a:srgbClr val="1A1A1A"/>
                          </a:solidFill>
                          <a:latin typeface="Calibri"/>
                        </a:defRPr>
                      </a:pPr>
                      <a:r>
                        <a:t>Tamper-proof audit trail</a:t>
                      </a:r>
                    </a:p>
                  </a:txBody>
                  <a:tcPr anchor="ctr">
                    <a:solidFill>
                      <a:srgbClr val="F5F5F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Why This Architecture</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8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sp>
        <p:nvSpPr>
          <p:cNvPr id="6" name="TextBox 5"/>
          <p:cNvSpPr txBox="1"/>
          <p:nvPr/>
        </p:nvSpPr>
        <p:spPr>
          <a:xfrm>
            <a:off x="914400" y="960120"/>
            <a:ext cx="10360152" cy="3467100"/>
          </a:xfrm>
          <a:prstGeom prst="rect">
            <a:avLst/>
          </a:prstGeom>
          <a:noFill/>
        </p:spPr>
        <p:txBody>
          <a:bodyPr wrap="square">
            <a:spAutoFit/>
          </a:bodyPr>
          <a:lstStyle/>
          <a:p>
            <a:pPr>
              <a:defRPr sz="1300">
                <a:solidFill>
                  <a:srgbClr val="1A1A1A"/>
                </a:solidFill>
                <a:latin typeface="Calibri"/>
              </a:defRPr>
            </a:pPr>
            <a:r>
              <a:t>• Safety-first determination routing — confidence thresholds route low-certainty cases to human reviewers; no case is ever auto-denied without clinical review</a:t>
            </a:r>
            <a:br/>
            <a:br/>
            <a:r>
              <a:t>• Configurable confidence thresholds — start conservative, tune with real performance data as the system learns</a:t>
            </a:r>
            <a:br/>
            <a:br/>
            <a:r>
              <a:t>• CMS-0057-F compliance readiness — FHIR R4 foundation meets the Jan 2027 API deadline without re-architecture</a:t>
            </a:r>
            <a:br/>
            <a:br/>
            <a:r>
              <a:t>• Azure-native deployment — leverages Autonomize’s existing Azure ecosystem, Pegasus Program membership, and Marketplace presence</a:t>
            </a:r>
            <a:br/>
            <a:br/>
            <a:r>
              <a:t>• Full audit trail — every determination records model version, input hash, reasoning, evidence, and confidence for 7-year regulatory retention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Top 3 Security Risks &amp; Mitigations</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9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graphicFrame>
        <p:nvGraphicFramePr>
          <p:cNvPr id="6" name="Table 5"/>
          <p:cNvGraphicFramePr>
            <a:graphicFrameLocks noGrp="1"/>
          </p:cNvGraphicFramePr>
          <p:nvPr/>
        </p:nvGraphicFramePr>
        <p:xfrm>
          <a:off x="914400" y="960120"/>
          <a:ext cx="10519096" cy="132588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gridCol w="1924028">
                  <a:extLst>
                    <a:ext uri="{9D8B030D-6E8A-4147-A177-3AD203B41FA5}">
                      <a16:colId xmlns:a16="http://schemas.microsoft.com/office/drawing/2014/main" val="20001"/>
                    </a:ext>
                  </a:extLst>
                </a:gridCol>
                <a:gridCol w="4144060">
                  <a:extLst>
                    <a:ext uri="{9D8B030D-6E8A-4147-A177-3AD203B41FA5}">
                      <a16:colId xmlns:a16="http://schemas.microsoft.com/office/drawing/2014/main" val="20002"/>
                    </a:ext>
                  </a:extLst>
                </a:gridCol>
                <a:gridCol w="4242728">
                  <a:extLst>
                    <a:ext uri="{9D8B030D-6E8A-4147-A177-3AD203B41FA5}">
                      <a16:colId xmlns:a16="http://schemas.microsoft.com/office/drawing/2014/main" val="20003"/>
                    </a:ext>
                  </a:extLst>
                </a:gridCol>
              </a:tblGrid>
              <a:tr h="320040">
                <a:tc>
                  <a:txBody>
                    <a:bodyPr/>
                    <a:lstStyle/>
                    <a:p>
                      <a:pPr algn="l">
                        <a:defRPr sz="900" b="1">
                          <a:solidFill>
                            <a:srgbClr val="FFFFFF"/>
                          </a:solidFill>
                          <a:latin typeface="Calibri"/>
                        </a:defRPr>
                      </a:pPr>
                      <a:r>
                        <a:t>#</a:t>
                      </a:r>
                    </a:p>
                  </a:txBody>
                  <a:tcPr anchor="ctr">
                    <a:solidFill>
                      <a:srgbClr val="29065A"/>
                    </a:solidFill>
                  </a:tcPr>
                </a:tc>
                <a:tc>
                  <a:txBody>
                    <a:bodyPr/>
                    <a:lstStyle/>
                    <a:p>
                      <a:pPr algn="l">
                        <a:defRPr sz="900" b="1">
                          <a:solidFill>
                            <a:srgbClr val="FFFFFF"/>
                          </a:solidFill>
                          <a:latin typeface="Calibri"/>
                        </a:defRPr>
                      </a:pPr>
                      <a:r>
                        <a:t>Risk</a:t>
                      </a:r>
                    </a:p>
                  </a:txBody>
                  <a:tcPr anchor="ctr">
                    <a:solidFill>
                      <a:srgbClr val="29065A"/>
                    </a:solidFill>
                  </a:tcPr>
                </a:tc>
                <a:tc>
                  <a:txBody>
                    <a:bodyPr/>
                    <a:lstStyle/>
                    <a:p>
                      <a:pPr algn="l">
                        <a:defRPr sz="900" b="1">
                          <a:solidFill>
                            <a:srgbClr val="FFFFFF"/>
                          </a:solidFill>
                          <a:latin typeface="Calibri"/>
                        </a:defRPr>
                      </a:pPr>
                      <a:r>
                        <a:t>Mitigation 1: Architectural</a:t>
                      </a:r>
                    </a:p>
                  </a:txBody>
                  <a:tcPr anchor="ctr">
                    <a:solidFill>
                      <a:srgbClr val="29065A"/>
                    </a:solidFill>
                  </a:tcPr>
                </a:tc>
                <a:tc>
                  <a:txBody>
                    <a:bodyPr/>
                    <a:lstStyle/>
                    <a:p>
                      <a:pPr algn="l">
                        <a:defRPr sz="900" b="1">
                          <a:solidFill>
                            <a:srgbClr val="FFFFFF"/>
                          </a:solidFill>
                          <a:latin typeface="Calibri"/>
                        </a:defRPr>
                      </a:pPr>
                      <a:r>
                        <a:t>Mitigation 2: Operational</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900">
                          <a:solidFill>
                            <a:srgbClr val="1A1A1A"/>
                          </a:solidFill>
                          <a:latin typeface="Calibri"/>
                        </a:defRPr>
                      </a:pPr>
                      <a:r>
                        <a:t>1</a:t>
                      </a:r>
                    </a:p>
                  </a:txBody>
                  <a:tcPr anchor="ctr"/>
                </a:tc>
                <a:tc>
                  <a:txBody>
                    <a:bodyPr/>
                    <a:lstStyle/>
                    <a:p>
                      <a:pPr>
                        <a:defRPr sz="900">
                          <a:solidFill>
                            <a:srgbClr val="1A1A1A"/>
                          </a:solidFill>
                          <a:latin typeface="Calibri"/>
                        </a:defRPr>
                      </a:pPr>
                      <a:r>
                        <a:t>PHI exposure through AI pipeline</a:t>
                      </a:r>
                    </a:p>
                  </a:txBody>
                  <a:tcPr anchor="ctr"/>
                </a:tc>
                <a:tc>
                  <a:txBody>
                    <a:bodyPr/>
                    <a:lstStyle/>
                    <a:p>
                      <a:pPr>
                        <a:defRPr sz="900">
                          <a:solidFill>
                            <a:srgbClr val="1A1A1A"/>
                          </a:solidFill>
                          <a:latin typeface="Calibri"/>
                        </a:defRPr>
                      </a:pPr>
                      <a:r>
                        <a:t>PHI tokenization before LLM — AI sees clinical facts without patient identity</a:t>
                      </a:r>
                    </a:p>
                  </a:txBody>
                  <a:tcPr anchor="ctr"/>
                </a:tc>
                <a:tc>
                  <a:txBody>
                    <a:bodyPr/>
                    <a:lstStyle/>
                    <a:p>
                      <a:pPr>
                        <a:defRPr sz="900">
                          <a:solidFill>
                            <a:srgbClr val="1A1A1A"/>
                          </a:solidFill>
                          <a:latin typeface="Calibri"/>
                        </a:defRPr>
                      </a:pPr>
                      <a:r>
                        <a:t>Anthropic API: zero data retention for model training (enterprise terms)</a:t>
                      </a:r>
                    </a:p>
                  </a:txBody>
                  <a:tcPr anchor="ctr"/>
                </a:tc>
                <a:extLst>
                  <a:ext uri="{0D108BD9-81ED-4DB2-BD59-A6C34878D82A}">
                    <a16:rowId xmlns:a16="http://schemas.microsoft.com/office/drawing/2014/main" val="10001"/>
                  </a:ext>
                </a:extLst>
              </a:tr>
              <a:tr h="320040">
                <a:tc>
                  <a:txBody>
                    <a:bodyPr/>
                    <a:lstStyle/>
                    <a:p>
                      <a:pPr>
                        <a:defRPr sz="900">
                          <a:solidFill>
                            <a:srgbClr val="1A1A1A"/>
                          </a:solidFill>
                          <a:latin typeface="Calibri"/>
                        </a:defRPr>
                      </a:pPr>
                      <a:r>
                        <a:t>2</a:t>
                      </a:r>
                    </a:p>
                  </a:txBody>
                  <a:tcPr anchor="ctr">
                    <a:solidFill>
                      <a:srgbClr val="F5F5F5"/>
                    </a:solidFill>
                  </a:tcPr>
                </a:tc>
                <a:tc>
                  <a:txBody>
                    <a:bodyPr/>
                    <a:lstStyle/>
                    <a:p>
                      <a:pPr>
                        <a:defRPr sz="900">
                          <a:solidFill>
                            <a:srgbClr val="1A1A1A"/>
                          </a:solidFill>
                          <a:latin typeface="Calibri"/>
                        </a:defRPr>
                      </a:pPr>
                      <a:r>
                        <a:t>Prompt injection via clinical documents</a:t>
                      </a:r>
                    </a:p>
                  </a:txBody>
                  <a:tcPr anchor="ctr">
                    <a:solidFill>
                      <a:srgbClr val="F5F5F5"/>
                    </a:solidFill>
                  </a:tcPr>
                </a:tc>
                <a:tc>
                  <a:txBody>
                    <a:bodyPr/>
                    <a:lstStyle/>
                    <a:p>
                      <a:pPr>
                        <a:defRPr sz="900">
                          <a:solidFill>
                            <a:srgbClr val="1A1A1A"/>
                          </a:solidFill>
                          <a:latin typeface="Calibri"/>
                        </a:defRPr>
                      </a:pPr>
                      <a:r>
                        <a:t>Document sanitization + system prompt isolation</a:t>
                      </a:r>
                    </a:p>
                  </a:txBody>
                  <a:tcPr anchor="ctr">
                    <a:solidFill>
                      <a:srgbClr val="F5F5F5"/>
                    </a:solidFill>
                  </a:tcPr>
                </a:tc>
                <a:tc>
                  <a:txBody>
                    <a:bodyPr/>
                    <a:lstStyle/>
                    <a:p>
                      <a:pPr>
                        <a:defRPr sz="900">
                          <a:solidFill>
                            <a:srgbClr val="1A1A1A"/>
                          </a:solidFill>
                          <a:latin typeface="Calibri"/>
                        </a:defRPr>
                      </a:pPr>
                      <a:r>
                        <a:t>Output validation requiring evidence citations — hallucinated claims fail verification</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900">
                          <a:solidFill>
                            <a:srgbClr val="1A1A1A"/>
                          </a:solidFill>
                          <a:latin typeface="Calibri"/>
                        </a:defRPr>
                      </a:pPr>
                      <a:r>
                        <a:t>3</a:t>
                      </a:r>
                    </a:p>
                  </a:txBody>
                  <a:tcPr anchor="ctr"/>
                </a:tc>
                <a:tc>
                  <a:txBody>
                    <a:bodyPr/>
                    <a:lstStyle/>
                    <a:p>
                      <a:pPr>
                        <a:defRPr sz="900">
                          <a:solidFill>
                            <a:srgbClr val="1A1A1A"/>
                          </a:solidFill>
                          <a:latin typeface="Calibri"/>
                        </a:defRPr>
                      </a:pPr>
                      <a:r>
                        <a:t>Untraceable AI decisions</a:t>
                      </a:r>
                    </a:p>
                  </a:txBody>
                  <a:tcPr anchor="ctr"/>
                </a:tc>
                <a:tc>
                  <a:txBody>
                    <a:bodyPr/>
                    <a:lstStyle/>
                    <a:p>
                      <a:pPr>
                        <a:defRPr sz="900">
                          <a:solidFill>
                            <a:srgbClr val="1A1A1A"/>
                          </a:solidFill>
                          <a:latin typeface="Calibri"/>
                        </a:defRPr>
                      </a:pPr>
                      <a:r>
                        <a:t>Tamper-proof audit trail: model version, input hash, reasoning, evidence, confidence</a:t>
                      </a:r>
                    </a:p>
                  </a:txBody>
                  <a:tcPr anchor="ctr"/>
                </a:tc>
                <a:tc>
                  <a:txBody>
                    <a:bodyPr/>
                    <a:lstStyle/>
                    <a:p>
                      <a:pPr>
                        <a:defRPr sz="900">
                          <a:solidFill>
                            <a:srgbClr val="1A1A1A"/>
                          </a:solidFill>
                          <a:latin typeface="Calibri"/>
                        </a:defRPr>
                      </a:pPr>
                      <a:r>
                        <a:t>Immutable 7-year retention with append-only writes</a:t>
                      </a:r>
                    </a:p>
                  </a:txBody>
                  <a:tcPr anchor="ctr"/>
                </a:tc>
                <a:extLst>
                  <a:ext uri="{0D108BD9-81ED-4DB2-BD59-A6C34878D82A}">
                    <a16:rowId xmlns:a16="http://schemas.microsoft.com/office/drawing/2014/main" val="10003"/>
                  </a:ext>
                </a:extLst>
              </a:tr>
            </a:tbl>
          </a:graphicData>
        </a:graphic>
      </p:graphicFrame>
      <p:sp>
        <p:nvSpPr>
          <p:cNvPr id="7" name="Rectangle 6"/>
          <p:cNvSpPr/>
          <p:nvPr/>
        </p:nvSpPr>
        <p:spPr>
          <a:xfrm>
            <a:off x="914400" y="2350008"/>
            <a:ext cx="10360152" cy="6019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2350008"/>
            <a:ext cx="54864" cy="6019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350008"/>
            <a:ext cx="10085832" cy="601980"/>
          </a:xfrm>
          <a:prstGeom prst="rect">
            <a:avLst/>
          </a:prstGeom>
          <a:noFill/>
        </p:spPr>
        <p:txBody>
          <a:bodyPr wrap="square"/>
          <a:lstStyle/>
          <a:p>
            <a:r>
              <a:rPr sz="1100" b="1">
                <a:solidFill>
                  <a:srgbClr val="29065A"/>
                </a:solidFill>
                <a:latin typeface="Calibri"/>
              </a:rPr>
              <a:t>Additional controls: </a:t>
            </a:r>
            <a:r>
              <a:rPr sz="1100">
                <a:solidFill>
                  <a:srgbClr val="1A1A1A"/>
                </a:solidFill>
                <a:latin typeface="Calibri"/>
              </a:rPr>
              <a:t>Entra ID RBAC, AES-256 at rest, TLS 1.2+ in transit, private endpoints, no auto-deny without human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Progressive Delivery — Agile, Iterative, Data-Driven</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10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graphicFrame>
        <p:nvGraphicFramePr>
          <p:cNvPr id="6" name="Table 5"/>
          <p:cNvGraphicFramePr>
            <a:graphicFrameLocks noGrp="1"/>
          </p:cNvGraphicFramePr>
          <p:nvPr/>
        </p:nvGraphicFramePr>
        <p:xfrm>
          <a:off x="914400" y="960120"/>
          <a:ext cx="10360150" cy="1600200"/>
        </p:xfrm>
        <a:graphic>
          <a:graphicData uri="http://schemas.openxmlformats.org/drawingml/2006/table">
            <a:tbl>
              <a:tblPr firstRow="1" bandRow="1">
                <a:tableStyleId>{5C22544A-7EE6-4342-B048-85BDC9FD1C3A}</a:tableStyleId>
              </a:tblPr>
              <a:tblGrid>
                <a:gridCol w="1458095">
                  <a:extLst>
                    <a:ext uri="{9D8B030D-6E8A-4147-A177-3AD203B41FA5}">
                      <a16:colId xmlns:a16="http://schemas.microsoft.com/office/drawing/2014/main" val="20000"/>
                    </a:ext>
                  </a:extLst>
                </a:gridCol>
                <a:gridCol w="844160">
                  <a:extLst>
                    <a:ext uri="{9D8B030D-6E8A-4147-A177-3AD203B41FA5}">
                      <a16:colId xmlns:a16="http://schemas.microsoft.com/office/drawing/2014/main" val="20001"/>
                    </a:ext>
                  </a:extLst>
                </a:gridCol>
                <a:gridCol w="3069674">
                  <a:extLst>
                    <a:ext uri="{9D8B030D-6E8A-4147-A177-3AD203B41FA5}">
                      <a16:colId xmlns:a16="http://schemas.microsoft.com/office/drawing/2014/main" val="20002"/>
                    </a:ext>
                  </a:extLst>
                </a:gridCol>
                <a:gridCol w="4988221">
                  <a:extLst>
                    <a:ext uri="{9D8B030D-6E8A-4147-A177-3AD203B41FA5}">
                      <a16:colId xmlns:a16="http://schemas.microsoft.com/office/drawing/2014/main" val="20003"/>
                    </a:ext>
                  </a:extLst>
                </a:gridCol>
              </a:tblGrid>
              <a:tr h="320040">
                <a:tc>
                  <a:txBody>
                    <a:bodyPr/>
                    <a:lstStyle/>
                    <a:p>
                      <a:pPr algn="l">
                        <a:defRPr sz="900" b="1">
                          <a:solidFill>
                            <a:srgbClr val="FFFFFF"/>
                          </a:solidFill>
                          <a:latin typeface="Calibri"/>
                        </a:defRPr>
                      </a:pPr>
                      <a:r>
                        <a:t>Phase</a:t>
                      </a:r>
                    </a:p>
                  </a:txBody>
                  <a:tcPr anchor="ctr">
                    <a:solidFill>
                      <a:srgbClr val="29065A"/>
                    </a:solidFill>
                  </a:tcPr>
                </a:tc>
                <a:tc>
                  <a:txBody>
                    <a:bodyPr/>
                    <a:lstStyle/>
                    <a:p>
                      <a:pPr algn="l">
                        <a:defRPr sz="900" b="1">
                          <a:solidFill>
                            <a:srgbClr val="FFFFFF"/>
                          </a:solidFill>
                          <a:latin typeface="Calibri"/>
                        </a:defRPr>
                      </a:pPr>
                      <a:r>
                        <a:t>Duration</a:t>
                      </a:r>
                    </a:p>
                  </a:txBody>
                  <a:tcPr anchor="ctr">
                    <a:solidFill>
                      <a:srgbClr val="29065A"/>
                    </a:solidFill>
                  </a:tcPr>
                </a:tc>
                <a:tc>
                  <a:txBody>
                    <a:bodyPr/>
                    <a:lstStyle/>
                    <a:p>
                      <a:pPr algn="l">
                        <a:defRPr sz="900" b="1">
                          <a:solidFill>
                            <a:srgbClr val="FFFFFF"/>
                          </a:solidFill>
                          <a:latin typeface="Calibri"/>
                        </a:defRPr>
                      </a:pPr>
                      <a:r>
                        <a:t>What We Deliver</a:t>
                      </a:r>
                    </a:p>
                  </a:txBody>
                  <a:tcPr anchor="ctr">
                    <a:solidFill>
                      <a:srgbClr val="29065A"/>
                    </a:solidFill>
                  </a:tcPr>
                </a:tc>
                <a:tc>
                  <a:txBody>
                    <a:bodyPr/>
                    <a:lstStyle/>
                    <a:p>
                      <a:pPr algn="l">
                        <a:defRPr sz="900" b="1">
                          <a:solidFill>
                            <a:srgbClr val="FFFFFF"/>
                          </a:solidFill>
                          <a:latin typeface="Calibri"/>
                        </a:defRPr>
                      </a:pPr>
                      <a:r>
                        <a:t>How We Work</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900">
                          <a:solidFill>
                            <a:srgbClr val="1A1A1A"/>
                          </a:solidFill>
                          <a:latin typeface="Calibri"/>
                        </a:defRPr>
                      </a:pPr>
                      <a:r>
                        <a:t>Phase 0: Demo</a:t>
                      </a:r>
                    </a:p>
                  </a:txBody>
                  <a:tcPr anchor="ctr"/>
                </a:tc>
                <a:tc>
                  <a:txBody>
                    <a:bodyPr/>
                    <a:lstStyle/>
                    <a:p>
                      <a:pPr>
                        <a:defRPr sz="900">
                          <a:solidFill>
                            <a:srgbClr val="1A1A1A"/>
                          </a:solidFill>
                          <a:latin typeface="Calibri"/>
                        </a:defRPr>
                      </a:pPr>
                      <a:r>
                        <a:t>Weeks 1-2</a:t>
                      </a:r>
                    </a:p>
                  </a:txBody>
                  <a:tcPr anchor="ctr"/>
                </a:tc>
                <a:tc>
                  <a:txBody>
                    <a:bodyPr/>
                    <a:lstStyle/>
                    <a:p>
                      <a:pPr>
                        <a:defRPr sz="900">
                          <a:solidFill>
                            <a:srgbClr val="1A1A1A"/>
                          </a:solidFill>
                          <a:latin typeface="Calibri"/>
                        </a:defRPr>
                      </a:pPr>
                      <a:r>
                        <a:t>Working AI PA review with mock data</a:t>
                      </a:r>
                    </a:p>
                  </a:txBody>
                  <a:tcPr anchor="ctr"/>
                </a:tc>
                <a:tc>
                  <a:txBody>
                    <a:bodyPr/>
                    <a:lstStyle/>
                    <a:p>
                      <a:pPr>
                        <a:defRPr sz="900">
                          <a:solidFill>
                            <a:srgbClr val="1A1A1A"/>
                          </a:solidFill>
                          <a:latin typeface="Calibri"/>
                        </a:defRPr>
                      </a:pPr>
                      <a:r>
                        <a:t>Spike + validate core architecture</a:t>
                      </a:r>
                    </a:p>
                  </a:txBody>
                  <a:tcPr anchor="ctr"/>
                </a:tc>
                <a:extLst>
                  <a:ext uri="{0D108BD9-81ED-4DB2-BD59-A6C34878D82A}">
                    <a16:rowId xmlns:a16="http://schemas.microsoft.com/office/drawing/2014/main" val="10001"/>
                  </a:ext>
                </a:extLst>
              </a:tr>
              <a:tr h="320040">
                <a:tc>
                  <a:txBody>
                    <a:bodyPr/>
                    <a:lstStyle/>
                    <a:p>
                      <a:pPr>
                        <a:defRPr sz="900">
                          <a:solidFill>
                            <a:srgbClr val="1A1A1A"/>
                          </a:solidFill>
                          <a:latin typeface="Calibri"/>
                        </a:defRPr>
                      </a:pPr>
                      <a:r>
                        <a:t>Phase 1: MVP</a:t>
                      </a:r>
                    </a:p>
                  </a:txBody>
                  <a:tcPr anchor="ctr">
                    <a:solidFill>
                      <a:srgbClr val="F5F5F5"/>
                    </a:solidFill>
                  </a:tcPr>
                </a:tc>
                <a:tc>
                  <a:txBody>
                    <a:bodyPr/>
                    <a:lstStyle/>
                    <a:p>
                      <a:pPr>
                        <a:defRPr sz="900">
                          <a:solidFill>
                            <a:srgbClr val="1A1A1A"/>
                          </a:solidFill>
                          <a:latin typeface="Calibri"/>
                        </a:defRPr>
                      </a:pPr>
                      <a:r>
                        <a:t>Weeks 3-6</a:t>
                      </a:r>
                    </a:p>
                  </a:txBody>
                  <a:tcPr anchor="ctr">
                    <a:solidFill>
                      <a:srgbClr val="F5F5F5"/>
                    </a:solidFill>
                  </a:tcPr>
                </a:tc>
                <a:tc>
                  <a:txBody>
                    <a:bodyPr/>
                    <a:lstStyle/>
                    <a:p>
                      <a:pPr>
                        <a:defRPr sz="900">
                          <a:solidFill>
                            <a:srgbClr val="1A1A1A"/>
                          </a:solidFill>
                          <a:latin typeface="Calibri"/>
                        </a:defRPr>
                      </a:pPr>
                      <a:r>
                        <a:t>Single LOB, single channel in production</a:t>
                      </a:r>
                    </a:p>
                  </a:txBody>
                  <a:tcPr anchor="ctr">
                    <a:solidFill>
                      <a:srgbClr val="F5F5F5"/>
                    </a:solidFill>
                  </a:tcPr>
                </a:tc>
                <a:tc>
                  <a:txBody>
                    <a:bodyPr/>
                    <a:lstStyle/>
                    <a:p>
                      <a:pPr>
                        <a:defRPr sz="900">
                          <a:solidFill>
                            <a:srgbClr val="1A1A1A"/>
                          </a:solidFill>
                          <a:latin typeface="Calibri"/>
                        </a:defRPr>
                      </a:pPr>
                      <a:r>
                        <a:t>2-week sprints, daily standups, human review on all cases</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900">
                          <a:solidFill>
                            <a:srgbClr val="1A1A1A"/>
                          </a:solidFill>
                          <a:latin typeface="Calibri"/>
                        </a:defRPr>
                      </a:pPr>
                      <a:r>
                        <a:t>Phase 2: Scale</a:t>
                      </a:r>
                    </a:p>
                  </a:txBody>
                  <a:tcPr anchor="ctr"/>
                </a:tc>
                <a:tc>
                  <a:txBody>
                    <a:bodyPr/>
                    <a:lstStyle/>
                    <a:p>
                      <a:pPr>
                        <a:defRPr sz="900">
                          <a:solidFill>
                            <a:srgbClr val="1A1A1A"/>
                          </a:solidFill>
                          <a:latin typeface="Calibri"/>
                        </a:defRPr>
                      </a:pPr>
                      <a:r>
                        <a:t>Weeks 7-10</a:t>
                      </a:r>
                    </a:p>
                  </a:txBody>
                  <a:tcPr anchor="ctr"/>
                </a:tc>
                <a:tc>
                  <a:txBody>
                    <a:bodyPr/>
                    <a:lstStyle/>
                    <a:p>
                      <a:pPr>
                        <a:defRPr sz="900">
                          <a:solidFill>
                            <a:srgbClr val="1A1A1A"/>
                          </a:solidFill>
                          <a:latin typeface="Calibri"/>
                        </a:defRPr>
                      </a:pPr>
                      <a:r>
                        <a:t>Multi-channel, multi-LOB</a:t>
                      </a:r>
                    </a:p>
                  </a:txBody>
                  <a:tcPr anchor="ctr"/>
                </a:tc>
                <a:tc>
                  <a:txBody>
                    <a:bodyPr/>
                    <a:lstStyle/>
                    <a:p>
                      <a:pPr>
                        <a:defRPr sz="900">
                          <a:solidFill>
                            <a:srgbClr val="1A1A1A"/>
                          </a:solidFill>
                          <a:latin typeface="Calibri"/>
                        </a:defRPr>
                      </a:pPr>
                      <a:r>
                        <a:t>Iterate on real performance data, add fax OCR + legacy connectors</a:t>
                      </a:r>
                    </a:p>
                  </a:txBody>
                  <a:tcPr anchor="ctr"/>
                </a:tc>
                <a:extLst>
                  <a:ext uri="{0D108BD9-81ED-4DB2-BD59-A6C34878D82A}">
                    <a16:rowId xmlns:a16="http://schemas.microsoft.com/office/drawing/2014/main" val="10003"/>
                  </a:ext>
                </a:extLst>
              </a:tr>
              <a:tr h="320040">
                <a:tc>
                  <a:txBody>
                    <a:bodyPr/>
                    <a:lstStyle/>
                    <a:p>
                      <a:pPr>
                        <a:defRPr sz="900">
                          <a:solidFill>
                            <a:srgbClr val="1A1A1A"/>
                          </a:solidFill>
                          <a:latin typeface="Calibri"/>
                        </a:defRPr>
                      </a:pPr>
                      <a:r>
                        <a:t>Phase 3: Enterprise</a:t>
                      </a:r>
                    </a:p>
                  </a:txBody>
                  <a:tcPr anchor="ctr">
                    <a:solidFill>
                      <a:srgbClr val="F5F5F5"/>
                    </a:solidFill>
                  </a:tcPr>
                </a:tc>
                <a:tc>
                  <a:txBody>
                    <a:bodyPr/>
                    <a:lstStyle/>
                    <a:p>
                      <a:pPr>
                        <a:defRPr sz="900">
                          <a:solidFill>
                            <a:srgbClr val="1A1A1A"/>
                          </a:solidFill>
                          <a:latin typeface="Calibri"/>
                        </a:defRPr>
                      </a:pPr>
                      <a:r>
                        <a:t>Weeks 11-12</a:t>
                      </a:r>
                    </a:p>
                  </a:txBody>
                  <a:tcPr anchor="ctr">
                    <a:solidFill>
                      <a:srgbClr val="F5F5F5"/>
                    </a:solidFill>
                  </a:tcPr>
                </a:tc>
                <a:tc>
                  <a:txBody>
                    <a:bodyPr/>
                    <a:lstStyle/>
                    <a:p>
                      <a:pPr>
                        <a:defRPr sz="900">
                          <a:solidFill>
                            <a:srgbClr val="1A1A1A"/>
                          </a:solidFill>
                          <a:latin typeface="Calibri"/>
                        </a:defRPr>
                      </a:pPr>
                      <a:r>
                        <a:t>All channels, 20 LOBs, CMS reporting</a:t>
                      </a:r>
                    </a:p>
                  </a:txBody>
                  <a:tcPr anchor="ctr">
                    <a:solidFill>
                      <a:srgbClr val="F5F5F5"/>
                    </a:solidFill>
                  </a:tcPr>
                </a:tc>
                <a:tc>
                  <a:txBody>
                    <a:bodyPr/>
                    <a:lstStyle/>
                    <a:p>
                      <a:pPr>
                        <a:defRPr sz="900">
                          <a:solidFill>
                            <a:srgbClr val="1A1A1A"/>
                          </a:solidFill>
                          <a:latin typeface="Calibri"/>
                        </a:defRPr>
                      </a:pPr>
                      <a:r>
                        <a:t>Harden, load test, compliance validation</a:t>
                      </a:r>
                    </a:p>
                  </a:txBody>
                  <a:tcPr anchor="ctr">
                    <a:solidFill>
                      <a:srgbClr val="F5F5F5"/>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914400" y="2670048"/>
            <a:ext cx="10360152" cy="6019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2670048"/>
            <a:ext cx="54864" cy="6019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670048"/>
            <a:ext cx="10085832" cy="601980"/>
          </a:xfrm>
          <a:prstGeom prst="rect">
            <a:avLst/>
          </a:prstGeom>
          <a:noFill/>
        </p:spPr>
        <p:txBody>
          <a:bodyPr wrap="square"/>
          <a:lstStyle/>
          <a:p>
            <a:pPr>
              <a:defRPr sz="1100">
                <a:solidFill>
                  <a:srgbClr val="1A1A1A"/>
                </a:solidFill>
                <a:latin typeface="Calibri"/>
              </a:defRPr>
            </a:pPr>
            <a:r>
              <a:t>Each phase: Design → Build → Test → Demo → Decision Gate. No phase starts without stakeholder sign-off. Real performance data drives scope decisions — not assumptions.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Discussion Starters</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11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sp>
        <p:nvSpPr>
          <p:cNvPr id="6" name="TextBox 5"/>
          <p:cNvSpPr txBox="1"/>
          <p:nvPr/>
        </p:nvSpPr>
        <p:spPr>
          <a:xfrm>
            <a:off x="914400" y="960120"/>
            <a:ext cx="10360152" cy="320040"/>
          </a:xfrm>
          <a:prstGeom prst="rect">
            <a:avLst/>
          </a:prstGeom>
          <a:noFill/>
        </p:spPr>
        <p:txBody>
          <a:bodyPr wrap="square">
            <a:spAutoFit/>
          </a:bodyPr>
          <a:lstStyle/>
          <a:p>
            <a:pPr>
              <a:defRPr sz="1500" b="1">
                <a:solidFill>
                  <a:srgbClr val="29065A"/>
                </a:solidFill>
                <a:latin typeface="Calibri"/>
              </a:defRPr>
            </a:pPr>
            <a:r>
              <a:t>For the team:</a:t>
            </a:r>
          </a:p>
        </p:txBody>
      </p:sp>
      <p:sp>
        <p:nvSpPr>
          <p:cNvPr id="7" name="TextBox 6"/>
          <p:cNvSpPr txBox="1"/>
          <p:nvPr/>
        </p:nvSpPr>
        <p:spPr>
          <a:xfrm>
            <a:off x="914400" y="1389888"/>
            <a:ext cx="10360152" cy="685800"/>
          </a:xfrm>
          <a:prstGeom prst="rect">
            <a:avLst/>
          </a:prstGeom>
          <a:noFill/>
        </p:spPr>
        <p:txBody>
          <a:bodyPr wrap="square">
            <a:spAutoFit/>
          </a:bodyPr>
          <a:lstStyle/>
          <a:p>
            <a:pPr>
              <a:defRPr sz="1200">
                <a:solidFill>
                  <a:srgbClr val="1A1A1A"/>
                </a:solidFill>
                <a:latin typeface="Calibri"/>
              </a:defRPr>
            </a:pPr>
            <a:r>
              <a:t>• Which LOB would be the best Phase 1 candidate — and why?</a:t>
            </a:r>
            <a:br/>
            <a:r>
              <a:t>• What auto-determination rate should we target for Phase 1?</a:t>
            </a:r>
            <a:br/>
            <a:r>
              <a:t>• What’s been the biggest integration surprise with existing payer deployments?</a:t>
            </a:r>
          </a:p>
        </p:txBody>
      </p:sp>
      <p:sp>
        <p:nvSpPr>
          <p:cNvPr id="8" name="TextBox 7"/>
          <p:cNvSpPr txBox="1"/>
          <p:nvPr/>
        </p:nvSpPr>
        <p:spPr>
          <a:xfrm>
            <a:off x="914400" y="2185416"/>
            <a:ext cx="10360152" cy="320040"/>
          </a:xfrm>
          <a:prstGeom prst="rect">
            <a:avLst/>
          </a:prstGeom>
          <a:noFill/>
        </p:spPr>
        <p:txBody>
          <a:bodyPr wrap="square">
            <a:spAutoFit/>
          </a:bodyPr>
          <a:lstStyle/>
          <a:p>
            <a:pPr>
              <a:defRPr sz="1500" b="1">
                <a:solidFill>
                  <a:srgbClr val="29065A"/>
                </a:solidFill>
                <a:latin typeface="Calibri"/>
              </a:defRPr>
            </a:pPr>
            <a:r>
              <a:t>What I’d want to learn in discovery:</a:t>
            </a:r>
          </a:p>
        </p:txBody>
      </p:sp>
      <p:sp>
        <p:nvSpPr>
          <p:cNvPr id="9" name="TextBox 8"/>
          <p:cNvSpPr txBox="1"/>
          <p:nvPr/>
        </p:nvSpPr>
        <p:spPr>
          <a:xfrm>
            <a:off x="914400" y="2615184"/>
            <a:ext cx="10360152" cy="685800"/>
          </a:xfrm>
          <a:prstGeom prst="rect">
            <a:avLst/>
          </a:prstGeom>
          <a:noFill/>
        </p:spPr>
        <p:txBody>
          <a:bodyPr wrap="square">
            <a:spAutoFit/>
          </a:bodyPr>
          <a:lstStyle/>
          <a:p>
            <a:pPr>
              <a:defRPr sz="1200">
                <a:solidFill>
                  <a:srgbClr val="1A1A1A"/>
                </a:solidFill>
                <a:latin typeface="Calibri"/>
              </a:defRPr>
            </a:pPr>
            <a:r>
              <a:t>• How does Genesis handle coverage criteria updates today?</a:t>
            </a:r>
            <a:br/>
            <a:r>
              <a:t>• What does the ServiceNow partnership mean for payer workflow integration?</a:t>
            </a:r>
            <a:br/>
            <a:r>
              <a:t>• What Autonomize platform components are available for a new engagement?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Appendix A: Clinical Data Integration</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12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pic>
        <p:nvPicPr>
          <p:cNvPr id="6" name="Picture 5" descr="04-clinical-data-access.png"/>
          <p:cNvPicPr>
            <a:picLocks noChangeAspect="1"/>
          </p:cNvPicPr>
          <p:nvPr/>
        </p:nvPicPr>
        <p:blipFill>
          <a:blip r:embed="rId4"/>
          <a:stretch>
            <a:fillRect/>
          </a:stretch>
        </p:blipFill>
        <p:spPr>
          <a:xfrm>
            <a:off x="3034581" y="960120"/>
            <a:ext cx="6119789" cy="2560320"/>
          </a:xfrm>
          <a:prstGeom prst="rect">
            <a:avLst/>
          </a:prstGeom>
        </p:spPr>
      </p:pic>
      <p:graphicFrame>
        <p:nvGraphicFramePr>
          <p:cNvPr id="7" name="Table 6"/>
          <p:cNvGraphicFramePr>
            <a:graphicFrameLocks noGrp="1"/>
          </p:cNvGraphicFramePr>
          <p:nvPr/>
        </p:nvGraphicFramePr>
        <p:xfrm>
          <a:off x="914400" y="3630168"/>
          <a:ext cx="10360151" cy="960120"/>
        </p:xfrm>
        <a:graphic>
          <a:graphicData uri="http://schemas.openxmlformats.org/drawingml/2006/table">
            <a:tbl>
              <a:tblPr firstRow="1" bandRow="1">
                <a:tableStyleId>{5C22544A-7EE6-4342-B048-85BDC9FD1C3A}</a:tableStyleId>
              </a:tblPr>
              <a:tblGrid>
                <a:gridCol w="3028352">
                  <a:extLst>
                    <a:ext uri="{9D8B030D-6E8A-4147-A177-3AD203B41FA5}">
                      <a16:colId xmlns:a16="http://schemas.microsoft.com/office/drawing/2014/main" val="20000"/>
                    </a:ext>
                  </a:extLst>
                </a:gridCol>
                <a:gridCol w="3347126">
                  <a:extLst>
                    <a:ext uri="{9D8B030D-6E8A-4147-A177-3AD203B41FA5}">
                      <a16:colId xmlns:a16="http://schemas.microsoft.com/office/drawing/2014/main" val="20001"/>
                    </a:ext>
                  </a:extLst>
                </a:gridCol>
                <a:gridCol w="3984673">
                  <a:extLst>
                    <a:ext uri="{9D8B030D-6E8A-4147-A177-3AD203B41FA5}">
                      <a16:colId xmlns:a16="http://schemas.microsoft.com/office/drawing/2014/main" val="20002"/>
                    </a:ext>
                  </a:extLst>
                </a:gridCol>
              </a:tblGrid>
              <a:tr h="320040">
                <a:tc>
                  <a:txBody>
                    <a:bodyPr/>
                    <a:lstStyle/>
                    <a:p>
                      <a:pPr algn="l">
                        <a:defRPr sz="1000" b="1">
                          <a:solidFill>
                            <a:srgbClr val="FFFFFF"/>
                          </a:solidFill>
                          <a:latin typeface="Calibri"/>
                        </a:defRPr>
                      </a:pPr>
                      <a:r>
                        <a:t>Source</a:t>
                      </a:r>
                    </a:p>
                  </a:txBody>
                  <a:tcPr anchor="ctr">
                    <a:solidFill>
                      <a:srgbClr val="29065A"/>
                    </a:solidFill>
                  </a:tcPr>
                </a:tc>
                <a:tc>
                  <a:txBody>
                    <a:bodyPr/>
                    <a:lstStyle/>
                    <a:p>
                      <a:pPr algn="l">
                        <a:defRPr sz="1000" b="1">
                          <a:solidFill>
                            <a:srgbClr val="FFFFFF"/>
                          </a:solidFill>
                          <a:latin typeface="Calibri"/>
                        </a:defRPr>
                      </a:pPr>
                      <a:r>
                        <a:t>Protocol</a:t>
                      </a:r>
                    </a:p>
                  </a:txBody>
                  <a:tcPr anchor="ctr">
                    <a:solidFill>
                      <a:srgbClr val="29065A"/>
                    </a:solidFill>
                  </a:tcPr>
                </a:tc>
                <a:tc>
                  <a:txBody>
                    <a:bodyPr/>
                    <a:lstStyle/>
                    <a:p>
                      <a:pPr algn="l">
                        <a:defRPr sz="1000" b="1">
                          <a:solidFill>
                            <a:srgbClr val="FFFFFF"/>
                          </a:solidFill>
                          <a:latin typeface="Calibri"/>
                        </a:defRPr>
                      </a:pPr>
                      <a:r>
                        <a:t>Auth</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1000">
                          <a:solidFill>
                            <a:srgbClr val="1A1A1A"/>
                          </a:solidFill>
                          <a:latin typeface="Calibri"/>
                        </a:defRPr>
                      </a:pPr>
                      <a:r>
                        <a:t>Modern EMRs</a:t>
                      </a:r>
                    </a:p>
                  </a:txBody>
                  <a:tcPr anchor="ctr"/>
                </a:tc>
                <a:tc>
                  <a:txBody>
                    <a:bodyPr/>
                    <a:lstStyle/>
                    <a:p>
                      <a:pPr>
                        <a:defRPr sz="1000">
                          <a:solidFill>
                            <a:srgbClr val="1A1A1A"/>
                          </a:solidFill>
                          <a:latin typeface="Calibri"/>
                        </a:defRPr>
                      </a:pPr>
                      <a:r>
                        <a:t>FHIR R4 REST API</a:t>
                      </a:r>
                    </a:p>
                  </a:txBody>
                  <a:tcPr anchor="ctr"/>
                </a:tc>
                <a:tc>
                  <a:txBody>
                    <a:bodyPr/>
                    <a:lstStyle/>
                    <a:p>
                      <a:pPr>
                        <a:defRPr sz="1000">
                          <a:solidFill>
                            <a:srgbClr val="1A1A1A"/>
                          </a:solidFill>
                          <a:latin typeface="Calibri"/>
                        </a:defRPr>
                      </a:pPr>
                      <a:r>
                        <a:t>OAuth 2.0 / SMART on FHIR</a:t>
                      </a:r>
                    </a:p>
                  </a:txBody>
                  <a:tcPr anchor="ctr"/>
                </a:tc>
                <a:extLst>
                  <a:ext uri="{0D108BD9-81ED-4DB2-BD59-A6C34878D82A}">
                    <a16:rowId xmlns:a16="http://schemas.microsoft.com/office/drawing/2014/main" val="10001"/>
                  </a:ext>
                </a:extLst>
              </a:tr>
              <a:tr h="320040">
                <a:tc>
                  <a:txBody>
                    <a:bodyPr/>
                    <a:lstStyle/>
                    <a:p>
                      <a:pPr>
                        <a:defRPr sz="1000">
                          <a:solidFill>
                            <a:srgbClr val="1A1A1A"/>
                          </a:solidFill>
                          <a:latin typeface="Calibri"/>
                        </a:defRPr>
                      </a:pPr>
                      <a:r>
                        <a:t>Legacy DB Connector</a:t>
                      </a:r>
                    </a:p>
                  </a:txBody>
                  <a:tcPr anchor="ctr">
                    <a:solidFill>
                      <a:srgbClr val="F5F5F5"/>
                    </a:solidFill>
                  </a:tcPr>
                </a:tc>
                <a:tc>
                  <a:txBody>
                    <a:bodyPr/>
                    <a:lstStyle/>
                    <a:p>
                      <a:pPr>
                        <a:defRPr sz="1000">
                          <a:solidFill>
                            <a:srgbClr val="1A1A1A"/>
                          </a:solidFill>
                          <a:latin typeface="Calibri"/>
                        </a:defRPr>
                      </a:pPr>
                      <a:r>
                        <a:t>DB connector / HL7 v2</a:t>
                      </a:r>
                    </a:p>
                  </a:txBody>
                  <a:tcPr anchor="ctr">
                    <a:solidFill>
                      <a:srgbClr val="F5F5F5"/>
                    </a:solidFill>
                  </a:tcPr>
                </a:tc>
                <a:tc>
                  <a:txBody>
                    <a:bodyPr/>
                    <a:lstStyle/>
                    <a:p>
                      <a:pPr>
                        <a:defRPr sz="1000">
                          <a:solidFill>
                            <a:srgbClr val="1A1A1A"/>
                          </a:solidFill>
                          <a:latin typeface="Calibri"/>
                        </a:defRPr>
                      </a:pPr>
                      <a:r>
                        <a:t>Service account + VNet</a:t>
                      </a:r>
                    </a:p>
                  </a:txBody>
                  <a:tcPr anchor="ctr">
                    <a:solidFill>
                      <a:srgbClr val="F5F5F5"/>
                    </a:solidFill>
                  </a:tcPr>
                </a:tc>
                <a:extLst>
                  <a:ext uri="{0D108BD9-81ED-4DB2-BD59-A6C34878D82A}">
                    <a16:rowId xmlns:a16="http://schemas.microsoft.com/office/drawing/2014/main" val="10002"/>
                  </a:ext>
                </a:extLst>
              </a:tr>
            </a:tbl>
          </a:graphicData>
        </a:graphic>
      </p:graphicFrame>
      <p:sp>
        <p:nvSpPr>
          <p:cNvPr id="8" name="Rectangle 7"/>
          <p:cNvSpPr/>
          <p:nvPr/>
        </p:nvSpPr>
        <p:spPr>
          <a:xfrm>
            <a:off x="914400" y="4700016"/>
            <a:ext cx="10360152" cy="60198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4700016"/>
            <a:ext cx="54864" cy="60198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4700016"/>
            <a:ext cx="10085832" cy="601980"/>
          </a:xfrm>
          <a:prstGeom prst="rect">
            <a:avLst/>
          </a:prstGeom>
          <a:noFill/>
        </p:spPr>
        <p:txBody>
          <a:bodyPr wrap="square"/>
          <a:lstStyle/>
          <a:p>
            <a:r>
              <a:rPr sz="1100" b="1">
                <a:solidFill>
                  <a:srgbClr val="29065A"/>
                </a:solidFill>
                <a:latin typeface="Calibri"/>
              </a:rPr>
              <a:t>FHIR R4: </a:t>
            </a:r>
            <a:r>
              <a:rPr sz="1100">
                <a:solidFill>
                  <a:srgbClr val="1A1A1A"/>
                </a:solidFill>
                <a:latin typeface="Calibri"/>
              </a:rPr>
              <a:t>Interoperability standard for clinical data. Modern sources expose natively; legacy data normalized before AI processing.</a:t>
            </a:r>
          </a:p>
        </p:txBody>
      </p:sp>
      <p:sp>
        <p:nvSpPr>
          <p:cNvPr id="11" name="Rectangle 10"/>
          <p:cNvSpPr/>
          <p:nvPr/>
        </p:nvSpPr>
        <p:spPr>
          <a:xfrm>
            <a:off x="914400" y="5411724"/>
            <a:ext cx="10360152" cy="39243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 y="5411724"/>
            <a:ext cx="54864" cy="39243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411724"/>
            <a:ext cx="10085832" cy="392430"/>
          </a:xfrm>
          <a:prstGeom prst="rect">
            <a:avLst/>
          </a:prstGeom>
          <a:noFill/>
        </p:spPr>
        <p:txBody>
          <a:bodyPr wrap="square"/>
          <a:lstStyle/>
          <a:p>
            <a:r>
              <a:rPr sz="1100" b="1">
                <a:solidFill>
                  <a:srgbClr val="29065A"/>
                </a:solidFill>
                <a:latin typeface="Calibri"/>
              </a:rPr>
              <a:t>Security: </a:t>
            </a:r>
            <a:r>
              <a:rPr sz="1100">
                <a:solidFill>
                  <a:srgbClr val="1A1A1A"/>
                </a:solidFill>
                <a:latin typeface="Calibri"/>
              </a:rPr>
              <a:t>All clinical data passes through PHI tokenization before reaching the AI engine.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Appendix B: AI Model Monitoring &amp; Feedback</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13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pic>
        <p:nvPicPr>
          <p:cNvPr id="6" name="Picture 5" descr="06-llmops-pipeline.png"/>
          <p:cNvPicPr>
            <a:picLocks noChangeAspect="1"/>
          </p:cNvPicPr>
          <p:nvPr/>
        </p:nvPicPr>
        <p:blipFill>
          <a:blip r:embed="rId4"/>
          <a:stretch>
            <a:fillRect/>
          </a:stretch>
        </p:blipFill>
        <p:spPr>
          <a:xfrm>
            <a:off x="1786984" y="960120"/>
            <a:ext cx="8614982" cy="2560320"/>
          </a:xfrm>
          <a:prstGeom prst="rect">
            <a:avLst/>
          </a:prstGeom>
        </p:spPr>
      </p:pic>
      <p:sp>
        <p:nvSpPr>
          <p:cNvPr id="7" name="TextBox 6"/>
          <p:cNvSpPr txBox="1"/>
          <p:nvPr/>
        </p:nvSpPr>
        <p:spPr>
          <a:xfrm>
            <a:off x="914400" y="3630168"/>
            <a:ext cx="10360152" cy="320040"/>
          </a:xfrm>
          <a:prstGeom prst="rect">
            <a:avLst/>
          </a:prstGeom>
          <a:noFill/>
        </p:spPr>
        <p:txBody>
          <a:bodyPr wrap="square">
            <a:spAutoFit/>
          </a:bodyPr>
          <a:lstStyle/>
          <a:p>
            <a:pPr>
              <a:defRPr sz="1500" b="1">
                <a:solidFill>
                  <a:srgbClr val="29065A"/>
                </a:solidFill>
                <a:latin typeface="Calibri"/>
              </a:defRPr>
            </a:pPr>
            <a:r>
              <a:t>Detect drift</a:t>
            </a:r>
          </a:p>
        </p:txBody>
      </p:sp>
      <p:sp>
        <p:nvSpPr>
          <p:cNvPr id="8" name="TextBox 7"/>
          <p:cNvSpPr txBox="1"/>
          <p:nvPr/>
        </p:nvSpPr>
        <p:spPr>
          <a:xfrm>
            <a:off x="914400" y="4059936"/>
            <a:ext cx="10360152" cy="685800"/>
          </a:xfrm>
          <a:prstGeom prst="rect">
            <a:avLst/>
          </a:prstGeom>
          <a:noFill/>
        </p:spPr>
        <p:txBody>
          <a:bodyPr wrap="square">
            <a:spAutoFit/>
          </a:bodyPr>
          <a:lstStyle/>
          <a:p>
            <a:pPr>
              <a:defRPr sz="1200">
                <a:solidFill>
                  <a:srgbClr val="1A1A1A"/>
                </a:solidFill>
                <a:latin typeface="Calibri"/>
              </a:defRPr>
            </a:pPr>
            <a:r>
              <a:t>• Overturn rate monitoring (human overrides AI), appeal rate, accuracy trends</a:t>
            </a:r>
            <a:br/>
            <a:r>
              <a:t>• Automated evals — golden test cases benchmarked on schedule</a:t>
            </a:r>
            <a:br/>
            <a:r>
              <a:t>• Confidence distribution shifts signal model or data changes</a:t>
            </a:r>
          </a:p>
        </p:txBody>
      </p:sp>
      <p:sp>
        <p:nvSpPr>
          <p:cNvPr id="9" name="TextBox 8"/>
          <p:cNvSpPr txBox="1"/>
          <p:nvPr/>
        </p:nvSpPr>
        <p:spPr>
          <a:xfrm>
            <a:off x="914400" y="4855464"/>
            <a:ext cx="10360152" cy="320040"/>
          </a:xfrm>
          <a:prstGeom prst="rect">
            <a:avLst/>
          </a:prstGeom>
          <a:noFill/>
        </p:spPr>
        <p:txBody>
          <a:bodyPr wrap="square">
            <a:spAutoFit/>
          </a:bodyPr>
          <a:lstStyle/>
          <a:p>
            <a:pPr>
              <a:defRPr sz="1500" b="1">
                <a:solidFill>
                  <a:srgbClr val="29065A"/>
                </a:solidFill>
                <a:latin typeface="Calibri"/>
              </a:defRPr>
            </a:pPr>
            <a:r>
              <a:t>Feedback loop</a:t>
            </a:r>
          </a:p>
        </p:txBody>
      </p:sp>
      <p:sp>
        <p:nvSpPr>
          <p:cNvPr id="10" name="TextBox 9"/>
          <p:cNvSpPr txBox="1"/>
          <p:nvPr/>
        </p:nvSpPr>
        <p:spPr>
          <a:xfrm>
            <a:off x="914400" y="5285232"/>
            <a:ext cx="10360152" cy="457200"/>
          </a:xfrm>
          <a:prstGeom prst="rect">
            <a:avLst/>
          </a:prstGeom>
          <a:noFill/>
        </p:spPr>
        <p:txBody>
          <a:bodyPr wrap="square">
            <a:spAutoFit/>
          </a:bodyPr>
          <a:lstStyle/>
          <a:p>
            <a:pPr>
              <a:defRPr sz="1200">
                <a:solidFill>
                  <a:srgbClr val="1A1A1A"/>
                </a:solidFill>
                <a:latin typeface="Calibri"/>
              </a:defRPr>
            </a:pPr>
            <a:r>
              <a:t>1. Reviewer corrections → updated eval dataset  2. Benchmark new vs current  3. Staged blue-green rollout  4. Guardrails always active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Appendix C: Scaling to 20 LOBs</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14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graphicFrame>
        <p:nvGraphicFramePr>
          <p:cNvPr id="6" name="Table 5"/>
          <p:cNvGraphicFramePr>
            <a:graphicFrameLocks noGrp="1"/>
          </p:cNvGraphicFramePr>
          <p:nvPr/>
        </p:nvGraphicFramePr>
        <p:xfrm>
          <a:off x="914400" y="960120"/>
          <a:ext cx="10360150" cy="960120"/>
        </p:xfrm>
        <a:graphic>
          <a:graphicData uri="http://schemas.openxmlformats.org/drawingml/2006/table">
            <a:tbl>
              <a:tblPr firstRow="1" bandRow="1">
                <a:tableStyleId>{5C22544A-7EE6-4342-B048-85BDC9FD1C3A}</a:tableStyleId>
              </a:tblPr>
              <a:tblGrid>
                <a:gridCol w="3719028">
                  <a:extLst>
                    <a:ext uri="{9D8B030D-6E8A-4147-A177-3AD203B41FA5}">
                      <a16:colId xmlns:a16="http://schemas.microsoft.com/office/drawing/2014/main" val="20000"/>
                    </a:ext>
                  </a:extLst>
                </a:gridCol>
                <a:gridCol w="1593869">
                  <a:extLst>
                    <a:ext uri="{9D8B030D-6E8A-4147-A177-3AD203B41FA5}">
                      <a16:colId xmlns:a16="http://schemas.microsoft.com/office/drawing/2014/main" val="20001"/>
                    </a:ext>
                  </a:extLst>
                </a:gridCol>
                <a:gridCol w="2390804">
                  <a:extLst>
                    <a:ext uri="{9D8B030D-6E8A-4147-A177-3AD203B41FA5}">
                      <a16:colId xmlns:a16="http://schemas.microsoft.com/office/drawing/2014/main" val="20002"/>
                    </a:ext>
                  </a:extLst>
                </a:gridCol>
                <a:gridCol w="2656449">
                  <a:extLst>
                    <a:ext uri="{9D8B030D-6E8A-4147-A177-3AD203B41FA5}">
                      <a16:colId xmlns:a16="http://schemas.microsoft.com/office/drawing/2014/main" val="20003"/>
                    </a:ext>
                  </a:extLst>
                </a:gridCol>
              </a:tblGrid>
              <a:tr h="320040">
                <a:tc>
                  <a:txBody>
                    <a:bodyPr/>
                    <a:lstStyle/>
                    <a:p>
                      <a:pPr algn="l">
                        <a:defRPr sz="1000" b="1">
                          <a:solidFill>
                            <a:srgbClr val="FFFFFF"/>
                          </a:solidFill>
                          <a:latin typeface="Calibri"/>
                        </a:defRPr>
                      </a:pPr>
                      <a:r>
                        <a:t>Approach</a:t>
                      </a:r>
                    </a:p>
                  </a:txBody>
                  <a:tcPr anchor="ctr">
                    <a:solidFill>
                      <a:srgbClr val="29065A"/>
                    </a:solidFill>
                  </a:tcPr>
                </a:tc>
                <a:tc>
                  <a:txBody>
                    <a:bodyPr/>
                    <a:lstStyle/>
                    <a:p>
                      <a:pPr algn="l">
                        <a:defRPr sz="1000" b="1">
                          <a:solidFill>
                            <a:srgbClr val="FFFFFF"/>
                          </a:solidFill>
                          <a:latin typeface="Calibri"/>
                        </a:defRPr>
                      </a:pPr>
                      <a:r>
                        <a:t>Cost</a:t>
                      </a:r>
                    </a:p>
                  </a:txBody>
                  <a:tcPr anchor="ctr">
                    <a:solidFill>
                      <a:srgbClr val="29065A"/>
                    </a:solidFill>
                  </a:tcPr>
                </a:tc>
                <a:tc>
                  <a:txBody>
                    <a:bodyPr/>
                    <a:lstStyle/>
                    <a:p>
                      <a:pPr algn="l">
                        <a:defRPr sz="1000" b="1">
                          <a:solidFill>
                            <a:srgbClr val="FFFFFF"/>
                          </a:solidFill>
                          <a:latin typeface="Calibri"/>
                        </a:defRPr>
                      </a:pPr>
                      <a:r>
                        <a:t>Isolation</a:t>
                      </a:r>
                    </a:p>
                  </a:txBody>
                  <a:tcPr anchor="ctr">
                    <a:solidFill>
                      <a:srgbClr val="29065A"/>
                    </a:solidFill>
                  </a:tcPr>
                </a:tc>
                <a:tc>
                  <a:txBody>
                    <a:bodyPr/>
                    <a:lstStyle/>
                    <a:p>
                      <a:pPr algn="l">
                        <a:defRPr sz="1000" b="1">
                          <a:solidFill>
                            <a:srgbClr val="FFFFFF"/>
                          </a:solidFill>
                          <a:latin typeface="Calibri"/>
                        </a:defRPr>
                      </a:pPr>
                      <a:r>
                        <a:t>Complexity</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1000">
                          <a:solidFill>
                            <a:srgbClr val="1A1A1A"/>
                          </a:solidFill>
                          <a:latin typeface="Calibri"/>
                        </a:defRPr>
                      </a:pPr>
                      <a:r>
                        <a:t>Multi-tenant</a:t>
                      </a:r>
                    </a:p>
                  </a:txBody>
                  <a:tcPr anchor="ctr"/>
                </a:tc>
                <a:tc>
                  <a:txBody>
                    <a:bodyPr/>
                    <a:lstStyle/>
                    <a:p>
                      <a:pPr>
                        <a:defRPr sz="1000">
                          <a:solidFill>
                            <a:srgbClr val="1A1A1A"/>
                          </a:solidFill>
                          <a:latin typeface="Calibri"/>
                        </a:defRPr>
                      </a:pPr>
                      <a:r>
                        <a:t>Lower</a:t>
                      </a:r>
                    </a:p>
                  </a:txBody>
                  <a:tcPr anchor="ctr"/>
                </a:tc>
                <a:tc>
                  <a:txBody>
                    <a:bodyPr/>
                    <a:lstStyle/>
                    <a:p>
                      <a:pPr>
                        <a:defRPr sz="1000">
                          <a:solidFill>
                            <a:srgbClr val="1A1A1A"/>
                          </a:solidFill>
                          <a:latin typeface="Calibri"/>
                        </a:defRPr>
                      </a:pPr>
                      <a:r>
                        <a:t>Logical</a:t>
                      </a:r>
                    </a:p>
                  </a:txBody>
                  <a:tcPr anchor="ctr"/>
                </a:tc>
                <a:tc>
                  <a:txBody>
                    <a:bodyPr/>
                    <a:lstStyle/>
                    <a:p>
                      <a:pPr>
                        <a:defRPr sz="1000">
                          <a:solidFill>
                            <a:srgbClr val="1A1A1A"/>
                          </a:solidFill>
                          <a:latin typeface="Calibri"/>
                        </a:defRPr>
                      </a:pPr>
                      <a:r>
                        <a:t>Lower</a:t>
                      </a:r>
                    </a:p>
                  </a:txBody>
                  <a:tcPr anchor="ctr"/>
                </a:tc>
                <a:extLst>
                  <a:ext uri="{0D108BD9-81ED-4DB2-BD59-A6C34878D82A}">
                    <a16:rowId xmlns:a16="http://schemas.microsoft.com/office/drawing/2014/main" val="10001"/>
                  </a:ext>
                </a:extLst>
              </a:tr>
              <a:tr h="320040">
                <a:tc>
                  <a:txBody>
                    <a:bodyPr/>
                    <a:lstStyle/>
                    <a:p>
                      <a:pPr>
                        <a:defRPr sz="1000">
                          <a:solidFill>
                            <a:srgbClr val="1A1A1A"/>
                          </a:solidFill>
                          <a:latin typeface="Calibri"/>
                        </a:defRPr>
                      </a:pPr>
                      <a:r>
                        <a:t>Multi-instance</a:t>
                      </a:r>
                    </a:p>
                  </a:txBody>
                  <a:tcPr anchor="ctr">
                    <a:solidFill>
                      <a:srgbClr val="F5F5F5"/>
                    </a:solidFill>
                  </a:tcPr>
                </a:tc>
                <a:tc>
                  <a:txBody>
                    <a:bodyPr/>
                    <a:lstStyle/>
                    <a:p>
                      <a:pPr>
                        <a:defRPr sz="1000">
                          <a:solidFill>
                            <a:srgbClr val="1A1A1A"/>
                          </a:solidFill>
                          <a:latin typeface="Calibri"/>
                        </a:defRPr>
                      </a:pPr>
                      <a:r>
                        <a:t>Higher</a:t>
                      </a:r>
                    </a:p>
                  </a:txBody>
                  <a:tcPr anchor="ctr">
                    <a:solidFill>
                      <a:srgbClr val="F5F5F5"/>
                    </a:solidFill>
                  </a:tcPr>
                </a:tc>
                <a:tc>
                  <a:txBody>
                    <a:bodyPr/>
                    <a:lstStyle/>
                    <a:p>
                      <a:pPr>
                        <a:defRPr sz="1000">
                          <a:solidFill>
                            <a:srgbClr val="1A1A1A"/>
                          </a:solidFill>
                          <a:latin typeface="Calibri"/>
                        </a:defRPr>
                      </a:pPr>
                      <a:r>
                        <a:t>Physical</a:t>
                      </a:r>
                    </a:p>
                  </a:txBody>
                  <a:tcPr anchor="ctr">
                    <a:solidFill>
                      <a:srgbClr val="F5F5F5"/>
                    </a:solidFill>
                  </a:tcPr>
                </a:tc>
                <a:tc>
                  <a:txBody>
                    <a:bodyPr/>
                    <a:lstStyle/>
                    <a:p>
                      <a:pPr>
                        <a:defRPr sz="1000">
                          <a:solidFill>
                            <a:srgbClr val="1A1A1A"/>
                          </a:solidFill>
                          <a:latin typeface="Calibri"/>
                        </a:defRPr>
                      </a:pPr>
                      <a:r>
                        <a:t>Higher</a:t>
                      </a:r>
                    </a:p>
                  </a:txBody>
                  <a:tcPr anchor="ctr">
                    <a:solidFill>
                      <a:srgbClr val="F5F5F5"/>
                    </a:solidFill>
                  </a:tcPr>
                </a:tc>
                <a:extLst>
                  <a:ext uri="{0D108BD9-81ED-4DB2-BD59-A6C34878D82A}">
                    <a16:rowId xmlns:a16="http://schemas.microsoft.com/office/drawing/2014/main" val="10002"/>
                  </a:ext>
                </a:extLst>
              </a:tr>
            </a:tbl>
          </a:graphicData>
        </a:graphic>
      </p:graphicFrame>
      <p:sp>
        <p:nvSpPr>
          <p:cNvPr id="7" name="Rectangle 6"/>
          <p:cNvSpPr/>
          <p:nvPr/>
        </p:nvSpPr>
        <p:spPr>
          <a:xfrm>
            <a:off x="914400" y="2029968"/>
            <a:ext cx="10360152" cy="811530"/>
          </a:xfrm>
          <a:prstGeom prst="rect">
            <a:avLst/>
          </a:prstGeom>
          <a:solidFill>
            <a:srgbClr val="F8F4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14400" y="2029968"/>
            <a:ext cx="54864" cy="811530"/>
          </a:xfrm>
          <a:prstGeom prst="rect">
            <a:avLst/>
          </a:prstGeom>
          <a:solidFill>
            <a:srgbClr val="731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029968"/>
            <a:ext cx="10085832" cy="811530"/>
          </a:xfrm>
          <a:prstGeom prst="rect">
            <a:avLst/>
          </a:prstGeom>
          <a:noFill/>
        </p:spPr>
        <p:txBody>
          <a:bodyPr wrap="square"/>
          <a:lstStyle/>
          <a:p>
            <a:r>
              <a:rPr sz="1100" b="1">
                <a:solidFill>
                  <a:srgbClr val="29065A"/>
                </a:solidFill>
                <a:latin typeface="Calibri"/>
              </a:rPr>
              <a:t>Recommendation: </a:t>
            </a:r>
            <a:r>
              <a:rPr sz="1100">
                <a:solidFill>
                  <a:srgbClr val="1A1A1A"/>
                </a:solidFill>
                <a:latin typeface="Calibri"/>
              </a:rPr>
              <a:t>Multi-tenant with per-LOB configuration. Separate instances only where regulation requires physical isolation. The right answer depends on actual LOB rule complexity — a discovery question.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0"/>
          </a:xfrm>
          <a:prstGeom prst="rect">
            <a:avLst/>
          </a:prstGeom>
          <a:solidFill>
            <a:srgbClr val="29065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2600" b="1">
                <a:solidFill>
                  <a:srgbClr val="FFFFFF"/>
                </a:solidFill>
                <a:latin typeface="Calibri"/>
              </a:defRPr>
            </a:pPr>
            <a:r>
              <a:t>Sources &amp; References</a:t>
            </a:r>
          </a:p>
        </p:txBody>
      </p:sp>
      <p:pic>
        <p:nvPicPr>
          <p:cNvPr id="3" name="Picture 2" descr="autonomize-logo.png"/>
          <p:cNvPicPr>
            <a:picLocks noChangeAspect="1"/>
          </p:cNvPicPr>
          <p:nvPr/>
        </p:nvPicPr>
        <p:blipFill>
          <a:blip r:embed="rId2"/>
          <a:stretch>
            <a:fillRect/>
          </a:stretch>
        </p:blipFill>
        <p:spPr>
          <a:xfrm>
            <a:off x="9713382" y="251460"/>
            <a:ext cx="1561170" cy="320040"/>
          </a:xfrm>
          <a:prstGeom prst="rect">
            <a:avLst/>
          </a:prstGeom>
        </p:spPr>
      </p:pic>
      <p:sp>
        <p:nvSpPr>
          <p:cNvPr id="4" name="TextBox 3"/>
          <p:cNvSpPr txBox="1"/>
          <p:nvPr/>
        </p:nvSpPr>
        <p:spPr>
          <a:xfrm>
            <a:off x="9902952" y="6537960"/>
            <a:ext cx="1371600" cy="320040"/>
          </a:xfrm>
          <a:prstGeom prst="rect">
            <a:avLst/>
          </a:prstGeom>
          <a:noFill/>
        </p:spPr>
        <p:txBody>
          <a:bodyPr wrap="none">
            <a:spAutoFit/>
          </a:bodyPr>
          <a:lstStyle/>
          <a:p>
            <a:pPr algn="r">
              <a:defRPr sz="800">
                <a:solidFill>
                  <a:srgbClr val="999999"/>
                </a:solidFill>
                <a:latin typeface="Calibri"/>
              </a:defRPr>
            </a:pPr>
            <a:r>
              <a:t>15 / 15</a:t>
            </a:r>
          </a:p>
        </p:txBody>
      </p:sp>
      <p:pic>
        <p:nvPicPr>
          <p:cNvPr id="5" name="Picture 4" descr="autonomize-logo-dark.png"/>
          <p:cNvPicPr>
            <a:picLocks noChangeAspect="1"/>
          </p:cNvPicPr>
          <p:nvPr/>
        </p:nvPicPr>
        <p:blipFill>
          <a:blip r:embed="rId3"/>
          <a:stretch>
            <a:fillRect/>
          </a:stretch>
        </p:blipFill>
        <p:spPr>
          <a:xfrm>
            <a:off x="914400" y="6583680"/>
            <a:ext cx="773321" cy="182880"/>
          </a:xfrm>
          <a:prstGeom prst="rect">
            <a:avLst/>
          </a:prstGeom>
        </p:spPr>
      </p:pic>
      <p:graphicFrame>
        <p:nvGraphicFramePr>
          <p:cNvPr id="6" name="Table 5"/>
          <p:cNvGraphicFramePr>
            <a:graphicFrameLocks noGrp="1"/>
          </p:cNvGraphicFramePr>
          <p:nvPr/>
        </p:nvGraphicFramePr>
        <p:xfrm>
          <a:off x="914400" y="960120"/>
          <a:ext cx="10360150" cy="5212080"/>
        </p:xfrm>
        <a:graphic>
          <a:graphicData uri="http://schemas.openxmlformats.org/drawingml/2006/table">
            <a:tbl>
              <a:tblPr firstRow="1" bandRow="1">
                <a:tableStyleId>{5C22544A-7EE6-4342-B048-85BDC9FD1C3A}</a:tableStyleId>
              </a:tblPr>
              <a:tblGrid>
                <a:gridCol w="240933">
                  <a:extLst>
                    <a:ext uri="{9D8B030D-6E8A-4147-A177-3AD203B41FA5}">
                      <a16:colId xmlns:a16="http://schemas.microsoft.com/office/drawing/2014/main" val="20000"/>
                    </a:ext>
                  </a:extLst>
                </a:gridCol>
                <a:gridCol w="4577741">
                  <a:extLst>
                    <a:ext uri="{9D8B030D-6E8A-4147-A177-3AD203B41FA5}">
                      <a16:colId xmlns:a16="http://schemas.microsoft.com/office/drawing/2014/main" val="20001"/>
                    </a:ext>
                  </a:extLst>
                </a:gridCol>
                <a:gridCol w="5541476">
                  <a:extLst>
                    <a:ext uri="{9D8B030D-6E8A-4147-A177-3AD203B41FA5}">
                      <a16:colId xmlns:a16="http://schemas.microsoft.com/office/drawing/2014/main" val="20002"/>
                    </a:ext>
                  </a:extLst>
                </a:gridCol>
              </a:tblGrid>
              <a:tr h="320040">
                <a:tc>
                  <a:txBody>
                    <a:bodyPr/>
                    <a:lstStyle/>
                    <a:p>
                      <a:pPr algn="l">
                        <a:defRPr sz="800" b="1">
                          <a:solidFill>
                            <a:srgbClr val="FFFFFF"/>
                          </a:solidFill>
                          <a:latin typeface="Calibri"/>
                        </a:defRPr>
                      </a:pPr>
                      <a:r>
                        <a:t>#</a:t>
                      </a:r>
                    </a:p>
                  </a:txBody>
                  <a:tcPr anchor="ctr">
                    <a:solidFill>
                      <a:srgbClr val="29065A"/>
                    </a:solidFill>
                  </a:tcPr>
                </a:tc>
                <a:tc>
                  <a:txBody>
                    <a:bodyPr/>
                    <a:lstStyle/>
                    <a:p>
                      <a:pPr algn="l">
                        <a:defRPr sz="800" b="1">
                          <a:solidFill>
                            <a:srgbClr val="FFFFFF"/>
                          </a:solidFill>
                          <a:latin typeface="Calibri"/>
                        </a:defRPr>
                      </a:pPr>
                      <a:r>
                        <a:t>Claim</a:t>
                      </a:r>
                    </a:p>
                  </a:txBody>
                  <a:tcPr anchor="ctr">
                    <a:solidFill>
                      <a:srgbClr val="29065A"/>
                    </a:solidFill>
                  </a:tcPr>
                </a:tc>
                <a:tc>
                  <a:txBody>
                    <a:bodyPr/>
                    <a:lstStyle/>
                    <a:p>
                      <a:pPr algn="l">
                        <a:defRPr sz="800" b="1">
                          <a:solidFill>
                            <a:srgbClr val="FFFFFF"/>
                          </a:solidFill>
                          <a:latin typeface="Calibri"/>
                        </a:defRPr>
                      </a:pPr>
                      <a:r>
                        <a:t>Source</a:t>
                      </a:r>
                    </a:p>
                  </a:txBody>
                  <a:tcPr anchor="ctr">
                    <a:solidFill>
                      <a:srgbClr val="29065A"/>
                    </a:solidFill>
                  </a:tcPr>
                </a:tc>
                <a:extLst>
                  <a:ext uri="{0D108BD9-81ED-4DB2-BD59-A6C34878D82A}">
                    <a16:rowId xmlns:a16="http://schemas.microsoft.com/office/drawing/2014/main" val="10000"/>
                  </a:ext>
                </a:extLst>
              </a:tr>
              <a:tr h="320040">
                <a:tc>
                  <a:txBody>
                    <a:bodyPr/>
                    <a:lstStyle/>
                    <a:p>
                      <a:pPr>
                        <a:defRPr sz="800">
                          <a:solidFill>
                            <a:srgbClr val="1A1A1A"/>
                          </a:solidFill>
                          <a:latin typeface="Calibri"/>
                        </a:defRPr>
                      </a:pPr>
                      <a:r>
                        <a:t>1</a:t>
                      </a:r>
                    </a:p>
                  </a:txBody>
                  <a:tcPr anchor="ctr"/>
                </a:tc>
                <a:tc>
                  <a:txBody>
                    <a:bodyPr/>
                    <a:lstStyle/>
                    <a:p>
                      <a:pPr>
                        <a:defRPr sz="800">
                          <a:solidFill>
                            <a:srgbClr val="1A1A1A"/>
                          </a:solidFill>
                          <a:latin typeface="Calibri"/>
                        </a:defRPr>
                      </a:pPr>
                      <a:r>
                        <a:t>$10.97 manual PA labor cost (provider)</a:t>
                      </a:r>
                    </a:p>
                  </a:txBody>
                  <a:tcPr anchor="ctr"/>
                </a:tc>
                <a:tc>
                  <a:txBody>
                    <a:bodyPr/>
                    <a:lstStyle/>
                    <a:p>
                      <a:pPr>
                        <a:defRPr sz="800">
                          <a:solidFill>
                            <a:srgbClr val="1A1A1A"/>
                          </a:solidFill>
                          <a:latin typeface="Calibri"/>
                        </a:defRPr>
                      </a:pPr>
                      <a:r>
                        <a:t>CAQH 2024 Index, p. 9</a:t>
                      </a:r>
                    </a:p>
                  </a:txBody>
                  <a:tcPr anchor="ctr"/>
                </a:tc>
                <a:extLst>
                  <a:ext uri="{0D108BD9-81ED-4DB2-BD59-A6C34878D82A}">
                    <a16:rowId xmlns:a16="http://schemas.microsoft.com/office/drawing/2014/main" val="10001"/>
                  </a:ext>
                </a:extLst>
              </a:tr>
              <a:tr h="320040">
                <a:tc>
                  <a:txBody>
                    <a:bodyPr/>
                    <a:lstStyle/>
                    <a:p>
                      <a:pPr>
                        <a:defRPr sz="800">
                          <a:solidFill>
                            <a:srgbClr val="1A1A1A"/>
                          </a:solidFill>
                          <a:latin typeface="Calibri"/>
                        </a:defRPr>
                      </a:pPr>
                      <a:r>
                        <a:t>2</a:t>
                      </a:r>
                    </a:p>
                  </a:txBody>
                  <a:tcPr anchor="ctr">
                    <a:solidFill>
                      <a:srgbClr val="F5F5F5"/>
                    </a:solidFill>
                  </a:tcPr>
                </a:tc>
                <a:tc>
                  <a:txBody>
                    <a:bodyPr/>
                    <a:lstStyle/>
                    <a:p>
                      <a:pPr>
                        <a:defRPr sz="800">
                          <a:solidFill>
                            <a:srgbClr val="1A1A1A"/>
                          </a:solidFill>
                          <a:latin typeface="Calibri"/>
                        </a:defRPr>
                      </a:pPr>
                      <a:r>
                        <a:t>$3.52 manual PA labor cost (payer)</a:t>
                      </a:r>
                    </a:p>
                  </a:txBody>
                  <a:tcPr anchor="ctr">
                    <a:solidFill>
                      <a:srgbClr val="F5F5F5"/>
                    </a:solidFill>
                  </a:tcPr>
                </a:tc>
                <a:tc>
                  <a:txBody>
                    <a:bodyPr/>
                    <a:lstStyle/>
                    <a:p>
                      <a:pPr>
                        <a:defRPr sz="800">
                          <a:solidFill>
                            <a:srgbClr val="1A1A1A"/>
                          </a:solidFill>
                          <a:latin typeface="Calibri"/>
                        </a:defRPr>
                      </a:pPr>
                      <a:r>
                        <a:t>CAQH 2024 Index, p. 9</a:t>
                      </a:r>
                    </a:p>
                  </a:txBody>
                  <a:tcPr anchor="ctr">
                    <a:solidFill>
                      <a:srgbClr val="F5F5F5"/>
                    </a:solidFill>
                  </a:tcPr>
                </a:tc>
                <a:extLst>
                  <a:ext uri="{0D108BD9-81ED-4DB2-BD59-A6C34878D82A}">
                    <a16:rowId xmlns:a16="http://schemas.microsoft.com/office/drawing/2014/main" val="10002"/>
                  </a:ext>
                </a:extLst>
              </a:tr>
              <a:tr h="320040">
                <a:tc>
                  <a:txBody>
                    <a:bodyPr/>
                    <a:lstStyle/>
                    <a:p>
                      <a:pPr>
                        <a:defRPr sz="800">
                          <a:solidFill>
                            <a:srgbClr val="1A1A1A"/>
                          </a:solidFill>
                          <a:latin typeface="Calibri"/>
                        </a:defRPr>
                      </a:pPr>
                      <a:r>
                        <a:t>3</a:t>
                      </a:r>
                    </a:p>
                  </a:txBody>
                  <a:tcPr anchor="ctr"/>
                </a:tc>
                <a:tc>
                  <a:txBody>
                    <a:bodyPr/>
                    <a:lstStyle/>
                    <a:p>
                      <a:pPr>
                        <a:defRPr sz="800">
                          <a:solidFill>
                            <a:srgbClr val="1A1A1A"/>
                          </a:solidFill>
                          <a:latin typeface="Calibri"/>
                        </a:defRPr>
                      </a:pPr>
                      <a:r>
                        <a:t>~$0.05 electronic PA cost (payer)</a:t>
                      </a:r>
                    </a:p>
                  </a:txBody>
                  <a:tcPr anchor="ctr"/>
                </a:tc>
                <a:tc>
                  <a:txBody>
                    <a:bodyPr/>
                    <a:lstStyle/>
                    <a:p>
                      <a:pPr>
                        <a:defRPr sz="800">
                          <a:solidFill>
                            <a:srgbClr val="1A1A1A"/>
                          </a:solidFill>
                          <a:latin typeface="Calibri"/>
                        </a:defRPr>
                      </a:pPr>
                      <a:r>
                        <a:t>CAQH 2024 Index, p. 9</a:t>
                      </a:r>
                    </a:p>
                  </a:txBody>
                  <a:tcPr anchor="ctr"/>
                </a:tc>
                <a:extLst>
                  <a:ext uri="{0D108BD9-81ED-4DB2-BD59-A6C34878D82A}">
                    <a16:rowId xmlns:a16="http://schemas.microsoft.com/office/drawing/2014/main" val="10003"/>
                  </a:ext>
                </a:extLst>
              </a:tr>
              <a:tr h="320040">
                <a:tc>
                  <a:txBody>
                    <a:bodyPr/>
                    <a:lstStyle/>
                    <a:p>
                      <a:pPr>
                        <a:defRPr sz="800">
                          <a:solidFill>
                            <a:srgbClr val="1A1A1A"/>
                          </a:solidFill>
                          <a:latin typeface="Calibri"/>
                        </a:defRPr>
                      </a:pPr>
                      <a:r>
                        <a:t>4</a:t>
                      </a:r>
                    </a:p>
                  </a:txBody>
                  <a:tcPr anchor="ctr">
                    <a:solidFill>
                      <a:srgbClr val="F5F5F5"/>
                    </a:solidFill>
                  </a:tcPr>
                </a:tc>
                <a:tc>
                  <a:txBody>
                    <a:bodyPr/>
                    <a:lstStyle/>
                    <a:p>
                      <a:pPr>
                        <a:defRPr sz="800">
                          <a:solidFill>
                            <a:srgbClr val="1A1A1A"/>
                          </a:solidFill>
                          <a:latin typeface="Calibri"/>
                        </a:defRPr>
                      </a:pPr>
                      <a:r>
                        <a:t>45% PA review time reduction</a:t>
                      </a:r>
                    </a:p>
                  </a:txBody>
                  <a:tcPr anchor="ctr">
                    <a:solidFill>
                      <a:srgbClr val="F5F5F5"/>
                    </a:solidFill>
                  </a:tcPr>
                </a:tc>
                <a:tc>
                  <a:txBody>
                    <a:bodyPr/>
                    <a:lstStyle/>
                    <a:p>
                      <a:pPr>
                        <a:defRPr sz="800">
                          <a:solidFill>
                            <a:srgbClr val="1A1A1A"/>
                          </a:solidFill>
                          <a:latin typeface="Calibri"/>
                        </a:defRPr>
                      </a:pPr>
                      <a:r>
                        <a:t>Altais + Autonomize AI (BusinessWire Feb 2026)</a:t>
                      </a:r>
                    </a:p>
                  </a:txBody>
                  <a:tcPr anchor="ctr">
                    <a:solidFill>
                      <a:srgbClr val="F5F5F5"/>
                    </a:solidFill>
                  </a:tcPr>
                </a:tc>
                <a:extLst>
                  <a:ext uri="{0D108BD9-81ED-4DB2-BD59-A6C34878D82A}">
                    <a16:rowId xmlns:a16="http://schemas.microsoft.com/office/drawing/2014/main" val="10004"/>
                  </a:ext>
                </a:extLst>
              </a:tr>
              <a:tr h="320040">
                <a:tc>
                  <a:txBody>
                    <a:bodyPr/>
                    <a:lstStyle/>
                    <a:p>
                      <a:pPr>
                        <a:defRPr sz="800">
                          <a:solidFill>
                            <a:srgbClr val="1A1A1A"/>
                          </a:solidFill>
                          <a:latin typeface="Calibri"/>
                        </a:defRPr>
                      </a:pPr>
                      <a:r>
                        <a:t>5</a:t>
                      </a:r>
                    </a:p>
                  </a:txBody>
                  <a:tcPr anchor="ctr"/>
                </a:tc>
                <a:tc>
                  <a:txBody>
                    <a:bodyPr/>
                    <a:lstStyle/>
                    <a:p>
                      <a:pPr>
                        <a:defRPr sz="800">
                          <a:solidFill>
                            <a:srgbClr val="1A1A1A"/>
                          </a:solidFill>
                          <a:latin typeface="Calibri"/>
                        </a:defRPr>
                      </a:pPr>
                      <a:r>
                        <a:t>54% manual error reduction</a:t>
                      </a:r>
                    </a:p>
                  </a:txBody>
                  <a:tcPr anchor="ctr"/>
                </a:tc>
                <a:tc>
                  <a:txBody>
                    <a:bodyPr/>
                    <a:lstStyle/>
                    <a:p>
                      <a:pPr>
                        <a:defRPr sz="800">
                          <a:solidFill>
                            <a:srgbClr val="1A1A1A"/>
                          </a:solidFill>
                          <a:latin typeface="Calibri"/>
                        </a:defRPr>
                      </a:pPr>
                      <a:r>
                        <a:t>Altais + Autonomize AI (BusinessWire Feb 2026)</a:t>
                      </a:r>
                    </a:p>
                  </a:txBody>
                  <a:tcPr anchor="ctr"/>
                </a:tc>
                <a:extLst>
                  <a:ext uri="{0D108BD9-81ED-4DB2-BD59-A6C34878D82A}">
                    <a16:rowId xmlns:a16="http://schemas.microsoft.com/office/drawing/2014/main" val="10005"/>
                  </a:ext>
                </a:extLst>
              </a:tr>
              <a:tr h="320040">
                <a:tc>
                  <a:txBody>
                    <a:bodyPr/>
                    <a:lstStyle/>
                    <a:p>
                      <a:pPr>
                        <a:defRPr sz="800">
                          <a:solidFill>
                            <a:srgbClr val="1A1A1A"/>
                          </a:solidFill>
                          <a:latin typeface="Calibri"/>
                        </a:defRPr>
                      </a:pPr>
                      <a:r>
                        <a:t>6</a:t>
                      </a:r>
                    </a:p>
                  </a:txBody>
                  <a:tcPr anchor="ctr">
                    <a:solidFill>
                      <a:srgbClr val="F5F5F5"/>
                    </a:solidFill>
                  </a:tcPr>
                </a:tc>
                <a:tc>
                  <a:txBody>
                    <a:bodyPr/>
                    <a:lstStyle/>
                    <a:p>
                      <a:pPr>
                        <a:defRPr sz="800">
                          <a:solidFill>
                            <a:srgbClr val="1A1A1A"/>
                          </a:solidFill>
                          <a:latin typeface="Calibri"/>
                        </a:defRPr>
                      </a:pPr>
                      <a:r>
                        <a:t>50% auto-determination rate</a:t>
                      </a:r>
                    </a:p>
                  </a:txBody>
                  <a:tcPr anchor="ctr">
                    <a:solidFill>
                      <a:srgbClr val="F5F5F5"/>
                    </a:solidFill>
                  </a:tcPr>
                </a:tc>
                <a:tc>
                  <a:txBody>
                    <a:bodyPr/>
                    <a:lstStyle/>
                    <a:p>
                      <a:pPr>
                        <a:defRPr sz="800">
                          <a:solidFill>
                            <a:srgbClr val="1A1A1A"/>
                          </a:solidFill>
                          <a:latin typeface="Calibri"/>
                        </a:defRPr>
                      </a:pPr>
                      <a:r>
                        <a:t>Altais + Autonomize AI (BusinessWire Feb 2026)</a:t>
                      </a:r>
                    </a:p>
                  </a:txBody>
                  <a:tcPr anchor="ctr">
                    <a:solidFill>
                      <a:srgbClr val="F5F5F5"/>
                    </a:solidFill>
                  </a:tcPr>
                </a:tc>
                <a:extLst>
                  <a:ext uri="{0D108BD9-81ED-4DB2-BD59-A6C34878D82A}">
                    <a16:rowId xmlns:a16="http://schemas.microsoft.com/office/drawing/2014/main" val="10006"/>
                  </a:ext>
                </a:extLst>
              </a:tr>
              <a:tr h="320040">
                <a:tc>
                  <a:txBody>
                    <a:bodyPr/>
                    <a:lstStyle/>
                    <a:p>
                      <a:pPr>
                        <a:defRPr sz="800">
                          <a:solidFill>
                            <a:srgbClr val="1A1A1A"/>
                          </a:solidFill>
                          <a:latin typeface="Calibri"/>
                        </a:defRPr>
                      </a:pPr>
                      <a:r>
                        <a:t>7</a:t>
                      </a:r>
                    </a:p>
                  </a:txBody>
                  <a:tcPr anchor="ctr"/>
                </a:tc>
                <a:tc>
                  <a:txBody>
                    <a:bodyPr/>
                    <a:lstStyle/>
                    <a:p>
                      <a:pPr>
                        <a:defRPr sz="800">
                          <a:solidFill>
                            <a:srgbClr val="1A1A1A"/>
                          </a:solidFill>
                          <a:latin typeface="Calibri"/>
                        </a:defRPr>
                      </a:pPr>
                      <a:r>
                        <a:t>93% physicians say PA delays care</a:t>
                      </a:r>
                    </a:p>
                  </a:txBody>
                  <a:tcPr anchor="ctr"/>
                </a:tc>
                <a:tc>
                  <a:txBody>
                    <a:bodyPr/>
                    <a:lstStyle/>
                    <a:p>
                      <a:pPr>
                        <a:defRPr sz="800">
                          <a:solidFill>
                            <a:srgbClr val="1A1A1A"/>
                          </a:solidFill>
                          <a:latin typeface="Calibri"/>
                        </a:defRPr>
                      </a:pPr>
                      <a:r>
                        <a:t>AMA 2024 Prior Auth Survey, p. 5</a:t>
                      </a:r>
                    </a:p>
                  </a:txBody>
                  <a:tcPr anchor="ctr"/>
                </a:tc>
                <a:extLst>
                  <a:ext uri="{0D108BD9-81ED-4DB2-BD59-A6C34878D82A}">
                    <a16:rowId xmlns:a16="http://schemas.microsoft.com/office/drawing/2014/main" val="10007"/>
                  </a:ext>
                </a:extLst>
              </a:tr>
              <a:tr h="320040">
                <a:tc>
                  <a:txBody>
                    <a:bodyPr/>
                    <a:lstStyle/>
                    <a:p>
                      <a:pPr>
                        <a:defRPr sz="800">
                          <a:solidFill>
                            <a:srgbClr val="1A1A1A"/>
                          </a:solidFill>
                          <a:latin typeface="Calibri"/>
                        </a:defRPr>
                      </a:pPr>
                      <a:r>
                        <a:t>8</a:t>
                      </a:r>
                    </a:p>
                  </a:txBody>
                  <a:tcPr anchor="ctr">
                    <a:solidFill>
                      <a:srgbClr val="F5F5F5"/>
                    </a:solidFill>
                  </a:tcPr>
                </a:tc>
                <a:tc>
                  <a:txBody>
                    <a:bodyPr/>
                    <a:lstStyle/>
                    <a:p>
                      <a:pPr>
                        <a:defRPr sz="800">
                          <a:solidFill>
                            <a:srgbClr val="1A1A1A"/>
                          </a:solidFill>
                          <a:latin typeface="Calibri"/>
                        </a:defRPr>
                      </a:pPr>
                      <a:r>
                        <a:t>CMS-0057-F Phase 1 Jan 2026</a:t>
                      </a:r>
                    </a:p>
                  </a:txBody>
                  <a:tcPr anchor="ctr">
                    <a:solidFill>
                      <a:srgbClr val="F5F5F5"/>
                    </a:solidFill>
                  </a:tcPr>
                </a:tc>
                <a:tc>
                  <a:txBody>
                    <a:bodyPr/>
                    <a:lstStyle/>
                    <a:p>
                      <a:pPr>
                        <a:defRPr sz="800">
                          <a:solidFill>
                            <a:srgbClr val="1A1A1A"/>
                          </a:solidFill>
                          <a:latin typeface="Calibri"/>
                        </a:defRPr>
                      </a:pPr>
                      <a:r>
                        <a:t>CMS Interoperability Final Rule Fact Sheet</a:t>
                      </a:r>
                    </a:p>
                  </a:txBody>
                  <a:tcPr anchor="ctr">
                    <a:solidFill>
                      <a:srgbClr val="F5F5F5"/>
                    </a:solidFill>
                  </a:tcPr>
                </a:tc>
                <a:extLst>
                  <a:ext uri="{0D108BD9-81ED-4DB2-BD59-A6C34878D82A}">
                    <a16:rowId xmlns:a16="http://schemas.microsoft.com/office/drawing/2014/main" val="10008"/>
                  </a:ext>
                </a:extLst>
              </a:tr>
              <a:tr h="320040">
                <a:tc>
                  <a:txBody>
                    <a:bodyPr/>
                    <a:lstStyle/>
                    <a:p>
                      <a:pPr>
                        <a:defRPr sz="800">
                          <a:solidFill>
                            <a:srgbClr val="1A1A1A"/>
                          </a:solidFill>
                          <a:latin typeface="Calibri"/>
                        </a:defRPr>
                      </a:pPr>
                      <a:r>
                        <a:t>9</a:t>
                      </a:r>
                    </a:p>
                  </a:txBody>
                  <a:tcPr anchor="ctr"/>
                </a:tc>
                <a:tc>
                  <a:txBody>
                    <a:bodyPr/>
                    <a:lstStyle/>
                    <a:p>
                      <a:pPr>
                        <a:defRPr sz="800">
                          <a:solidFill>
                            <a:srgbClr val="1A1A1A"/>
                          </a:solidFill>
                          <a:latin typeface="Calibri"/>
                        </a:defRPr>
                      </a:pPr>
                      <a:r>
                        <a:t>CMS-0057-F Phase 2 Jan 2027</a:t>
                      </a:r>
                    </a:p>
                  </a:txBody>
                  <a:tcPr anchor="ctr"/>
                </a:tc>
                <a:tc>
                  <a:txBody>
                    <a:bodyPr/>
                    <a:lstStyle/>
                    <a:p>
                      <a:pPr>
                        <a:defRPr sz="800">
                          <a:solidFill>
                            <a:srgbClr val="1A1A1A"/>
                          </a:solidFill>
                          <a:latin typeface="Calibri"/>
                        </a:defRPr>
                      </a:pPr>
                      <a:r>
                        <a:t>CMS Interoperability Final Rule Fact Sheet</a:t>
                      </a:r>
                    </a:p>
                  </a:txBody>
                  <a:tcPr anchor="ctr"/>
                </a:tc>
                <a:extLst>
                  <a:ext uri="{0D108BD9-81ED-4DB2-BD59-A6C34878D82A}">
                    <a16:rowId xmlns:a16="http://schemas.microsoft.com/office/drawing/2014/main" val="10009"/>
                  </a:ext>
                </a:extLst>
              </a:tr>
              <a:tr h="320040">
                <a:tc>
                  <a:txBody>
                    <a:bodyPr/>
                    <a:lstStyle/>
                    <a:p>
                      <a:pPr>
                        <a:defRPr sz="800">
                          <a:solidFill>
                            <a:srgbClr val="1A1A1A"/>
                          </a:solidFill>
                          <a:latin typeface="Calibri"/>
                        </a:defRPr>
                      </a:pPr>
                      <a:r>
                        <a:t>10</a:t>
                      </a:r>
                    </a:p>
                  </a:txBody>
                  <a:tcPr anchor="ctr">
                    <a:solidFill>
                      <a:srgbClr val="F5F5F5"/>
                    </a:solidFill>
                  </a:tcPr>
                </a:tc>
                <a:tc>
                  <a:txBody>
                    <a:bodyPr/>
                    <a:lstStyle/>
                    <a:p>
                      <a:pPr>
                        <a:defRPr sz="800">
                          <a:solidFill>
                            <a:srgbClr val="1A1A1A"/>
                          </a:solidFill>
                          <a:latin typeface="Calibri"/>
                        </a:defRPr>
                      </a:pPr>
                      <a:r>
                        <a:t>Live at 3 of 5 largest US plans</a:t>
                      </a:r>
                    </a:p>
                  </a:txBody>
                  <a:tcPr anchor="ctr">
                    <a:solidFill>
                      <a:srgbClr val="F5F5F5"/>
                    </a:solidFill>
                  </a:tcPr>
                </a:tc>
                <a:tc>
                  <a:txBody>
                    <a:bodyPr/>
                    <a:lstStyle/>
                    <a:p>
                      <a:pPr>
                        <a:defRPr sz="800">
                          <a:solidFill>
                            <a:srgbClr val="1A1A1A"/>
                          </a:solidFill>
                          <a:latin typeface="Calibri"/>
                        </a:defRPr>
                      </a:pPr>
                      <a:r>
                        <a:t>Autonomize AI (BusinessWire Feb 2026)</a:t>
                      </a:r>
                    </a:p>
                  </a:txBody>
                  <a:tcPr anchor="ctr">
                    <a:solidFill>
                      <a:srgbClr val="F5F5F5"/>
                    </a:solidFill>
                  </a:tcPr>
                </a:tc>
                <a:extLst>
                  <a:ext uri="{0D108BD9-81ED-4DB2-BD59-A6C34878D82A}">
                    <a16:rowId xmlns:a16="http://schemas.microsoft.com/office/drawing/2014/main" val="10010"/>
                  </a:ext>
                </a:extLst>
              </a:tr>
              <a:tr h="320040">
                <a:tc>
                  <a:txBody>
                    <a:bodyPr/>
                    <a:lstStyle/>
                    <a:p>
                      <a:pPr>
                        <a:defRPr sz="800">
                          <a:solidFill>
                            <a:srgbClr val="1A1A1A"/>
                          </a:solidFill>
                          <a:latin typeface="Calibri"/>
                        </a:defRPr>
                      </a:pPr>
                      <a:r>
                        <a:t>11</a:t>
                      </a:r>
                    </a:p>
                  </a:txBody>
                  <a:tcPr anchor="ctr"/>
                </a:tc>
                <a:tc>
                  <a:txBody>
                    <a:bodyPr/>
                    <a:lstStyle/>
                    <a:p>
                      <a:pPr>
                        <a:defRPr sz="800">
                          <a:solidFill>
                            <a:srgbClr val="1A1A1A"/>
                          </a:solidFill>
                          <a:latin typeface="Calibri"/>
                        </a:defRPr>
                      </a:pPr>
                      <a:r>
                        <a:t>PA Copilot on Azure Marketplace</a:t>
                      </a:r>
                    </a:p>
                  </a:txBody>
                  <a:tcPr anchor="ctr"/>
                </a:tc>
                <a:tc>
                  <a:txBody>
                    <a:bodyPr/>
                    <a:lstStyle/>
                    <a:p>
                      <a:pPr>
                        <a:defRPr sz="800">
                          <a:solidFill>
                            <a:srgbClr val="1A1A1A"/>
                          </a:solidFill>
                          <a:latin typeface="Calibri"/>
                        </a:defRPr>
                      </a:pPr>
                      <a:r>
                        <a:t>Azure Marketplace listing</a:t>
                      </a:r>
                    </a:p>
                  </a:txBody>
                  <a:tcPr anchor="ctr"/>
                </a:tc>
                <a:extLst>
                  <a:ext uri="{0D108BD9-81ED-4DB2-BD59-A6C34878D82A}">
                    <a16:rowId xmlns:a16="http://schemas.microsoft.com/office/drawing/2014/main" val="10011"/>
                  </a:ext>
                </a:extLst>
              </a:tr>
              <a:tr h="320040">
                <a:tc>
                  <a:txBody>
                    <a:bodyPr/>
                    <a:lstStyle/>
                    <a:p>
                      <a:pPr>
                        <a:defRPr sz="800">
                          <a:solidFill>
                            <a:srgbClr val="1A1A1A"/>
                          </a:solidFill>
                          <a:latin typeface="Calibri"/>
                        </a:defRPr>
                      </a:pPr>
                      <a:r>
                        <a:t>12</a:t>
                      </a:r>
                    </a:p>
                  </a:txBody>
                  <a:tcPr anchor="ctr">
                    <a:solidFill>
                      <a:srgbClr val="F5F5F5"/>
                    </a:solidFill>
                  </a:tcPr>
                </a:tc>
                <a:tc>
                  <a:txBody>
                    <a:bodyPr/>
                    <a:lstStyle/>
                    <a:p>
                      <a:pPr>
                        <a:defRPr sz="800">
                          <a:solidFill>
                            <a:srgbClr val="1A1A1A"/>
                          </a:solidFill>
                          <a:latin typeface="Calibri"/>
                        </a:defRPr>
                      </a:pPr>
                      <a:r>
                        <a:t>ServiceNow partnership</a:t>
                      </a:r>
                    </a:p>
                  </a:txBody>
                  <a:tcPr anchor="ctr">
                    <a:solidFill>
                      <a:srgbClr val="F5F5F5"/>
                    </a:solidFill>
                  </a:tcPr>
                </a:tc>
                <a:tc>
                  <a:txBody>
                    <a:bodyPr/>
                    <a:lstStyle/>
                    <a:p>
                      <a:pPr>
                        <a:defRPr sz="800">
                          <a:solidFill>
                            <a:srgbClr val="1A1A1A"/>
                          </a:solidFill>
                          <a:latin typeface="Calibri"/>
                        </a:defRPr>
                      </a:pPr>
                      <a:r>
                        <a:t>BusinessWire Mar 2026</a:t>
                      </a:r>
                    </a:p>
                  </a:txBody>
                  <a:tcPr anchor="ctr">
                    <a:solidFill>
                      <a:srgbClr val="F5F5F5"/>
                    </a:solidFill>
                  </a:tcPr>
                </a:tc>
                <a:extLst>
                  <a:ext uri="{0D108BD9-81ED-4DB2-BD59-A6C34878D82A}">
                    <a16:rowId xmlns:a16="http://schemas.microsoft.com/office/drawing/2014/main" val="10012"/>
                  </a:ext>
                </a:extLst>
              </a:tr>
              <a:tr h="320040">
                <a:tc>
                  <a:txBody>
                    <a:bodyPr/>
                    <a:lstStyle/>
                    <a:p>
                      <a:pPr>
                        <a:defRPr sz="800">
                          <a:solidFill>
                            <a:srgbClr val="1A1A1A"/>
                          </a:solidFill>
                          <a:latin typeface="Calibri"/>
                        </a:defRPr>
                      </a:pPr>
                      <a:r>
                        <a:t>13</a:t>
                      </a:r>
                    </a:p>
                  </a:txBody>
                  <a:tcPr anchor="ctr"/>
                </a:tc>
                <a:tc>
                  <a:txBody>
                    <a:bodyPr/>
                    <a:lstStyle/>
                    <a:p>
                      <a:pPr>
                        <a:defRPr sz="800">
                          <a:solidFill>
                            <a:srgbClr val="1A1A1A"/>
                          </a:solidFill>
                          <a:latin typeface="Calibri"/>
                        </a:defRPr>
                      </a:pPr>
                      <a:r>
                        <a:t>Claude in Azure AI Foundry</a:t>
                      </a:r>
                    </a:p>
                  </a:txBody>
                  <a:tcPr anchor="ctr"/>
                </a:tc>
                <a:tc>
                  <a:txBody>
                    <a:bodyPr/>
                    <a:lstStyle/>
                    <a:p>
                      <a:pPr>
                        <a:defRPr sz="800">
                          <a:solidFill>
                            <a:srgbClr val="1A1A1A"/>
                          </a:solidFill>
                          <a:latin typeface="Calibri"/>
                        </a:defRPr>
                      </a:pPr>
                      <a:r>
                        <a:t>Microsoft Learn</a:t>
                      </a:r>
                    </a:p>
                  </a:txBody>
                  <a:tcPr anchor="ctr"/>
                </a:tc>
                <a:extLst>
                  <a:ext uri="{0D108BD9-81ED-4DB2-BD59-A6C34878D82A}">
                    <a16:rowId xmlns:a16="http://schemas.microsoft.com/office/drawing/2014/main" val="10013"/>
                  </a:ext>
                </a:extLst>
              </a:tr>
              <a:tr h="320040">
                <a:tc>
                  <a:txBody>
                    <a:bodyPr/>
                    <a:lstStyle/>
                    <a:p>
                      <a:pPr>
                        <a:defRPr sz="800">
                          <a:solidFill>
                            <a:srgbClr val="1A1A1A"/>
                          </a:solidFill>
                          <a:latin typeface="Calibri"/>
                        </a:defRPr>
                      </a:pPr>
                      <a:r>
                        <a:t>14</a:t>
                      </a:r>
                    </a:p>
                  </a:txBody>
                  <a:tcPr anchor="ctr">
                    <a:solidFill>
                      <a:srgbClr val="F5F5F5"/>
                    </a:solidFill>
                  </a:tcPr>
                </a:tc>
                <a:tc>
                  <a:txBody>
                    <a:bodyPr/>
                    <a:lstStyle/>
                    <a:p>
                      <a:pPr>
                        <a:defRPr sz="800">
                          <a:solidFill>
                            <a:srgbClr val="1A1A1A"/>
                          </a:solidFill>
                          <a:latin typeface="Calibri"/>
                        </a:defRPr>
                      </a:pPr>
                      <a:r>
                        <a:t>Genesis Platform</a:t>
                      </a:r>
                    </a:p>
                  </a:txBody>
                  <a:tcPr anchor="ctr">
                    <a:solidFill>
                      <a:srgbClr val="F5F5F5"/>
                    </a:solidFill>
                  </a:tcPr>
                </a:tc>
                <a:tc>
                  <a:txBody>
                    <a:bodyPr/>
                    <a:lstStyle/>
                    <a:p>
                      <a:pPr>
                        <a:defRPr sz="800">
                          <a:solidFill>
                            <a:srgbClr val="1A1A1A"/>
                          </a:solidFill>
                          <a:latin typeface="Calibri"/>
                        </a:defRPr>
                      </a:pPr>
                      <a:r>
                        <a:t>GlobeNewsWire Apr 2025</a:t>
                      </a:r>
                    </a:p>
                  </a:txBody>
                  <a:tcPr anchor="ctr">
                    <a:solidFill>
                      <a:srgbClr val="F5F5F5"/>
                    </a:solidFill>
                  </a:tcPr>
                </a:tc>
                <a:extLst>
                  <a:ext uri="{0D108BD9-81ED-4DB2-BD59-A6C34878D82A}">
                    <a16:rowId xmlns:a16="http://schemas.microsoft.com/office/drawing/2014/main" val="10014"/>
                  </a:ext>
                </a:extLst>
              </a:tr>
              <a:tr h="320040">
                <a:tc>
                  <a:txBody>
                    <a:bodyPr/>
                    <a:lstStyle/>
                    <a:p>
                      <a:pPr>
                        <a:defRPr sz="800">
                          <a:solidFill>
                            <a:srgbClr val="1A1A1A"/>
                          </a:solidFill>
                          <a:latin typeface="Calibri"/>
                        </a:defRPr>
                      </a:pPr>
                      <a:r>
                        <a:t>15</a:t>
                      </a:r>
                    </a:p>
                  </a:txBody>
                  <a:tcPr anchor="ctr"/>
                </a:tc>
                <a:tc>
                  <a:txBody>
                    <a:bodyPr/>
                    <a:lstStyle/>
                    <a:p>
                      <a:pPr>
                        <a:defRPr sz="800">
                          <a:solidFill>
                            <a:srgbClr val="1A1A1A"/>
                          </a:solidFill>
                          <a:latin typeface="Calibri"/>
                        </a:defRPr>
                      </a:pPr>
                      <a:r>
                        <a:t>Microsoft Pegasus Program</a:t>
                      </a:r>
                    </a:p>
                  </a:txBody>
                  <a:tcPr anchor="ctr"/>
                </a:tc>
                <a:tc>
                  <a:txBody>
                    <a:bodyPr/>
                    <a:lstStyle/>
                    <a:p>
                      <a:pPr>
                        <a:defRPr sz="800">
                          <a:solidFill>
                            <a:srgbClr val="1A1A1A"/>
                          </a:solidFill>
                          <a:latin typeface="Calibri"/>
                        </a:defRPr>
                      </a:pPr>
                      <a:r>
                        <a:t>BusinessWire Nov 2025</a:t>
                      </a:r>
                    </a:p>
                  </a:txBody>
                  <a:tcPr anchor="ctr"/>
                </a:tc>
                <a:extLst>
                  <a:ext uri="{0D108BD9-81ED-4DB2-BD59-A6C34878D82A}">
                    <a16:rowId xmlns:a16="http://schemas.microsoft.com/office/drawing/2014/main" val="1001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TotalTime>
  <Words>1306</Words>
  <Application>Microsoft Office PowerPoint</Application>
  <PresentationFormat>Custom</PresentationFormat>
  <Paragraphs>211</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Paul Prae</cp:lastModifiedBy>
  <cp:revision>1</cp:revision>
  <dcterms:created xsi:type="dcterms:W3CDTF">2013-01-27T09:14:16Z</dcterms:created>
  <dcterms:modified xsi:type="dcterms:W3CDTF">2026-03-25T21:22:15Z</dcterms:modified>
  <cp:category/>
</cp:coreProperties>
</file>