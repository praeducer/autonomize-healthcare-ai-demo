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Prior Authorization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for a Large US Health Plan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389888"/>
            <a:ext cx="10360152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43456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Prae  |  Principal AI Engineer &amp; Architect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84704"/>
            <a:ext cx="10360152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www.paulprae.com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389888"/>
            <a:ext cx="103601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 costs $10.97/transaction provider-side (CAQH 2024), $3.52 payer-side vs $0.05 electronic. 93% of physicians say PA delays care (AMA 2024).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694176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— Altais + Autonomize AI (Feb 2026)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123944"/>
          <a:ext cx="10360152" cy="914400"/>
        </p:xfrm>
        <a:graphic>
          <a:graphicData uri="http://schemas.openxmlformats.org/drawingml/2006/table">
            <a:tbl>
              <a:tblPr/>
              <a:tblGrid>
                <a:gridCol w="8288122"/>
                <a:gridCol w="207203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review time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error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Auto-determination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5513832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Autonomize AI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594360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at 3 of the 5 largest US health plans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 Copilot on Azure Marketplace — Microsoft Pegasus Program member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ServiceNow partnership extends reach into payer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CMS-0057-F deadline (Jan 2027) creates urgency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Request Lifecycle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60120"/>
            <a:ext cx="10360152" cy="1532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2602728"/>
            <a:ext cx="10360152" cy="259588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602728"/>
            <a:ext cx="54864" cy="259588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602728"/>
            <a:ext cx="10085832" cy="259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Intake (OCR) → Validate (eligibility) → AI Review (coverage matching + confidence) → Route (auto-approve / human review / pend) → Respond (payer core + provider notification)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Proof of Concept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0" y="960120"/>
            <a:ext cx="10360152" cy="147828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960120"/>
            <a:ext cx="54864" cy="147828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960120"/>
            <a:ext cx="10085832" cy="1478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proof of concept — demonstrates core clinical review (steps 4-5 of the lifecycle).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3189" y="2548128"/>
            <a:ext cx="3882574" cy="25603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5218176"/>
          <a:ext cx="10360152" cy="914400"/>
        </p:xfrm>
        <a:graphic>
          <a:graphicData uri="http://schemas.openxmlformats.org/drawingml/2006/table">
            <a:tbl>
              <a:tblPr/>
              <a:tblGrid>
                <a:gridCol w="4763288"/>
                <a:gridCol w="5596864"/>
              </a:tblGrid>
              <a:tr h="242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Scope (Phase 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Differences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242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PA cases with real ICD-10/CPT codes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eligibility → Payer Core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reviews in ~30s via Claude tool 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criteria → CMS Coverage Database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2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data models (fhir.resources R4B)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 → real clinical records via FHIR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CLI, REST API + Swagger, Web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Single-user → Azure Container Apps + auto-scale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779" y="960120"/>
            <a:ext cx="9325393" cy="292608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995928"/>
          <a:ext cx="10360152" cy="914400"/>
        </p:xfrm>
        <a:graphic>
          <a:graphicData uri="http://schemas.openxmlformats.org/drawingml/2006/table">
            <a:tbl>
              <a:tblPr/>
              <a:tblGrid>
                <a:gridCol w="2885106"/>
                <a:gridCol w="4721082"/>
                <a:gridCol w="275396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Providers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PA requests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Fax, Portal, X12 278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AI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clinical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Copilot on Genesis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Plan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Eligibility, benefits, clinical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API, FHIR R4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Regulators (CMS)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CMS-0057-F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1836" y="960120"/>
            <a:ext cx="1865281" cy="27432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813048"/>
          <a:ext cx="10360152" cy="914400"/>
        </p:xfrm>
        <a:graphic>
          <a:graphicData uri="http://schemas.openxmlformats.org/drawingml/2006/table">
            <a:tbl>
              <a:tblPr/>
              <a:tblGrid>
                <a:gridCol w="3278529"/>
                <a:gridCol w="3934235"/>
                <a:gridCol w="3147388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Gateway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Mgmt + Functions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all PA channels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Document Intelligence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for faxes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Core REST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Data Aggregation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Data Services (FHIR R4)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clinical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Copilot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Genesis Platform + 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clinical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Determination Router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 +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Confidence-based routing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Review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AI Studio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reviewer interface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Determination Response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Core writeback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LLMOps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 + Evals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&amp;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Blob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Tamper-proof audit trail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10360152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Safety-first routing — confidence thresholds route low-certainty cases to human reviewers; no auto-deny without clinical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020568"/>
            <a:ext cx="10360152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thresholds — start conservative, tune with real performance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349496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CMS-0057-F compliance — FHIR R4 foundation meets Jan 2027 API deadline without re-architecture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922264"/>
            <a:ext cx="10360152" cy="615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Azure-native — leverages Autonomize's Azure ecosystem, Pegasus Program, and Marketplace presence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Security Risks &amp; Mitigations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60120"/>
          <a:ext cx="10360152" cy="914400"/>
        </p:xfrm>
        <a:graphic>
          <a:graphicData uri="http://schemas.openxmlformats.org/drawingml/2006/table">
            <a:tbl>
              <a:tblPr/>
              <a:tblGrid>
                <a:gridCol w="523992"/>
                <a:gridCol w="1990652"/>
                <a:gridCol w="4508240"/>
                <a:gridCol w="3337269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 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exposure through AI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tokenization before LLM — AI sees clinical facts without patient 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data retention for model training (enterprise terms)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via clinical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sanitization + system prompt isolation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validation requires evidence citations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Untraceable AI decisions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Tamper-proof audit: model version, input hash, reasoning, confidence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7-year retention, append-only writes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2350008"/>
            <a:ext cx="10360152" cy="192532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50008"/>
            <a:ext cx="54864" cy="192532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350008"/>
            <a:ext cx="10085832" cy="192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controls: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RBAC, AES-256 at rest, TLS 1.2+ in transit, private endpoints, no auto-deny without human review.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Delivery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60120"/>
          <a:ext cx="10360152" cy="914400"/>
        </p:xfrm>
        <a:graphic>
          <a:graphicData uri="http://schemas.openxmlformats.org/drawingml/2006/table">
            <a:tbl>
              <a:tblPr/>
              <a:tblGrid>
                <a:gridCol w="2262562"/>
                <a:gridCol w="3096137"/>
                <a:gridCol w="5001453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0: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the 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AI PA review with mock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MVP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LOB, single 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PA processing with human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2: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Multi-channel, multi-LOB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Fax OCR, legacy data, LOB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3: 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scale,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channels, 20 LOBs, CMS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2670048"/>
            <a:ext cx="10360152" cy="214884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670048"/>
            <a:ext cx="54864" cy="214884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670048"/>
            <a:ext cx="100858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produces a deployable, demonstrable system. Decision gates between phases use real performance data to scope the next phase.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Starters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389888"/>
            <a:ext cx="103601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the ServiceNow partnership change payer integration strategy?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target auto-determination rate for Phase 1?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694176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123944"/>
            <a:ext cx="103601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the Genesis Platform handle coverage criteria updates?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What's the Azure AI Foundry Agent Service integration status?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A: Clinical Data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81" y="960120"/>
            <a:ext cx="6119789" cy="256032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630168"/>
          <a:ext cx="10360152" cy="914400"/>
        </p:xfrm>
        <a:graphic>
          <a:graphicData uri="http://schemas.openxmlformats.org/drawingml/2006/table">
            <a:tbl>
              <a:tblPr/>
              <a:tblGrid>
                <a:gridCol w="3028352"/>
                <a:gridCol w="3347126"/>
                <a:gridCol w="398467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EMRs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REST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2.0 / SMART on FHIR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DB Connector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connector / HL7 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 + VNet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14400" y="4700016"/>
            <a:ext cx="10360152" cy="1837944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14400" y="4700016"/>
            <a:ext cx="54864" cy="1837944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560" y="4700016"/>
            <a:ext cx="10085832" cy="1837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standard for clinical data. Modern sources expose natively; legacy data normalized before AI 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B: AI Model Monitoring &amp; Feedback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985" y="960120"/>
            <a:ext cx="8614982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63016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drift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4059936"/>
            <a:ext cx="10360152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Overturn rate monitoring (human overrides AI), appeal rate, accuracy trends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evals — golden test cases benchmarked on schedule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distribution shifts signal model or data changes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Scaling to 20 LOBs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60120"/>
          <a:ext cx="10360152" cy="914400"/>
        </p:xfrm>
        <a:graphic>
          <a:graphicData uri="http://schemas.openxmlformats.org/drawingml/2006/table">
            <a:tbl>
              <a:tblPr/>
              <a:tblGrid>
                <a:gridCol w="3719029"/>
                <a:gridCol w="1593870"/>
                <a:gridCol w="2390804"/>
                <a:gridCol w="2656449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Multi-instance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2029968"/>
            <a:ext cx="10360152" cy="214884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029968"/>
            <a:ext cx="54864" cy="214884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029968"/>
            <a:ext cx="100858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multi-tenant with per-LOB config. Genesis Platform supports it. Separate instances only where regulation requires physical isolation.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4288536"/>
            <a:ext cx="10360152" cy="192532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4288536"/>
            <a:ext cx="54864" cy="192532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4288536"/>
            <a:ext cx="10085832" cy="192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unknowns: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answer depends on actual LOB rule complexity and regulatory requirements — both are discovery questions.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60120"/>
          <a:ext cx="10360152" cy="914400"/>
        </p:xfrm>
        <a:graphic>
          <a:graphicData uri="http://schemas.openxmlformats.org/drawingml/2006/table">
            <a:tbl>
              <a:tblPr/>
              <a:tblGrid>
                <a:gridCol w="532815"/>
                <a:gridCol w="4445700"/>
                <a:gridCol w="5381637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$10.97 manual PA labor cost (provider)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CAQH 2024 Index, p.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$3.52 manual PA labor cost (payer)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CAQH 2024 Index, p.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~$0.05 electronic PA cost (payer)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CAQH 2024 Index, p.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PA review time reduction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Altais + Autonomize AI (BusinessWire Feb 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 manual error reduction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Altais + Autonomize AI (BusinessWire Feb 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auto-determination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Altais + Autonomize AI (BusinessWire Feb 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 physicians say PA delays care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 2024 Prior Auth Survey, p.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CMS-0057-F Phase 1 Jan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Interoperability Final Rule Fact Sheet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CMS-0057-F Phase 2 Jan 2027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Interoperability Final Rule Fact Sheet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at 3 of 5 largest US plans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AI (BusinessWire Feb 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Copilot on Azure Marketplace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Marketplace listing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partnership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BusinessWire Mar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in Azure AI Foundry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Learn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Genesis Platform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GlobeNewsWire Apr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Pegasus Program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BusinessWire Nov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2026-03-25T19:16:38Z</dcterms:created>
  <dcterms:modified xsi:type="dcterms:W3CDTF">2026-03-25T19:16:38Z</dcterms:modified>
</cp:coreProperties>
</file>