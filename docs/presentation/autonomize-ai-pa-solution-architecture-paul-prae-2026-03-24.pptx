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1" r:id="rId4"/>
    <p:sldId id="262" r:id="rId5"/>
    <p:sldId id="263" r:id="rId6"/>
    <p:sldId id="265" r:id="rId7"/>
    <p:sldId id="266" r:id="rId8"/>
    <p:sldId id="267" r:id="rId9"/>
    <p:sldId id="269" r:id="rId10"/>
    <p:sldId id="270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49" d="100"/>
          <a:sy n="49" d="100"/>
        </p:scale>
        <p:origin x="66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9BC2-4BB8-D2FB-CDC4-DC3B4030E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248FD-9C10-D119-EAD7-02F90053E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990F8-54DE-989C-166A-7B230001D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8651F-C251-2117-B153-4E66BCD0A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0D0E6-F5FF-ECD2-86F0-7833B2B8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2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E87C-E6C0-CE7E-00A9-F9AC3AB0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76688-D749-CCE0-1296-23263995A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3DA18-1256-EE02-9109-AFEA6CDE4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0F920-2368-C4F0-F705-7C6972407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662B9-0C5B-3F7B-D119-85B9F2AA4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74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CD879-5D66-12DB-EA71-575F0B32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FBFAF-A571-29AE-A156-B0D54115D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C4F04-2BCE-8A3C-BC05-C847D2A7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B3641-F6E2-C6A5-0B11-84AE8C2B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88ED2-FC89-0146-383F-D2630839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0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D4B2-75ED-6B3B-34AC-BBA70ACDC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98CA-4DA5-311F-C207-F48BF79A4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EEC09-5FC6-50E2-3B73-6BAE5628D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C0FCB-43F6-B2A8-D342-14C1B3076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74D00-93BE-F488-6872-60E95ECCA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5ABB1-2134-9020-5E1D-F28B63FD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3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970F-828F-E905-659C-8A19883F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C928A-5661-501A-0106-88B49EFA6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9C790-F91A-505F-187C-71298D0BF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B9E30-9B05-D178-2725-3AC309B98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A98A6-2915-A4F8-19B2-58DB69016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E47AA-B47D-EE83-17F2-F9BA78F30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C6178-8232-1D97-51CA-ACE07324D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D5C11-045C-4348-788E-EB9281A6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6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CA14-E3B4-6B02-DB10-01DCD489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FBCC6-A7D0-5DBE-1123-AD47411E3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D332-2C6E-D9EC-982D-0E90A27E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D41D6-C399-A7C3-2BBB-C6D1C25C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364D37-6493-2205-0EBD-2883FB541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4E7FEF-BFCE-5FD3-A867-8144C858E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77D42-4AB8-EF9C-0C1D-51E66A08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8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7137-E120-5EAE-C506-678FB46D4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8F9AD-017D-DE84-1546-313F4B920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8BEA7-21C3-D005-FB64-6AD89A1EC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10C0E-F801-2717-BA6B-28490971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1D0B3-D50C-BC48-0761-4DC5AF68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99A06-9A62-7198-54DB-D38EF4E9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64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4567A-EE22-6620-3497-325DFD81F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B0FA6-9C4E-C01E-1973-1A0D4090B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EB974-CA82-407C-92F9-D65365385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7F2B-DBCB-68EC-AF17-335CCA72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785FF-B434-4B33-5552-1A5CB3DE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6A04A-2057-8BD0-9B44-EA3A6588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3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3C9B-0A98-CC19-1835-17A63AB7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FCA17-78F5-BAED-A58F-EB83BCF09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FCE20-8C24-53E3-A0ED-C16D2D1B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4962B-001B-2891-8BCC-71CB68C4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783D2-7AF0-AC42-269D-32A40B5B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63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898E6-F32B-D772-D028-B1299563A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D9D82-4C5B-C017-2321-4AA5635B3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1CC64-721B-AF6A-A9DF-A596E2FF9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192E6-6073-625C-58BC-0FB96DBF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477E1-70B2-88D2-4136-D17CE5EA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6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ECAAA-9C17-3C86-88E8-9BCEA9FC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894A2-3544-F6B0-DD29-D2E2A2E67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9DD91-CFC5-754B-BDCB-332ECD8CF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456D2-CE12-4C6E-91B6-6E7CB977C39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7108-0616-32F9-8F1A-239DECC0B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847F6-B93E-67A3-A4CB-AD663FF8D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EBD6E-9ECF-4E92-8911-467F2156247A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gradFill>
            <a:gsLst>
              <a:gs pos="0">
                <a:srgbClr val="0073AA"/>
              </a:gs>
              <a:gs pos="50000">
                <a:srgbClr val="00A5B5"/>
              </a:gs>
              <a:gs pos="100000">
                <a:srgbClr val="7B61FF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LeftStripe"/>
          <p:cNvSpPr/>
          <p:nvPr userDrawn="1"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0073A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8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E5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E5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E5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CB5C-6696-C8FA-2591-52D52368E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AI-Driven Prior Authorization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3D8C3-12A1-E674-9D4B-944FE44FED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Solution Architecture for a Large US Health Plan
Paul Prae | Principal AI Engineer &amp; Architect
www.paulprae.com</a:t>
            </a:r>
          </a:p>
        </p:txBody>
      </p:sp>
    </p:spTree>
    <p:extLst>
      <p:ext uri="{BB962C8B-B14F-4D97-AF65-F5344CB8AC3E}">
        <p14:creationId xmlns:p14="http://schemas.microsoft.com/office/powerpoint/2010/main" val="395330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ED25-6248-4FC1-8746-5A6BCFFD5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en-US" sz="3200" b="1"/>
              <a:t>PA Request Lifecycle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0170CF-C840-333D-D865-51645C3D5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89000"/>
            <a:ext cx="11277600" cy="4191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4C9221-6BB2-463A-B4F5-1E3E150B6B35}"/>
              </a:ext>
            </a:extLst>
          </p:cNvPr>
          <p:cNvSpPr txBox="1"/>
          <p:nvPr/>
        </p:nvSpPr>
        <p:spPr>
          <a:xfrm>
            <a:off x="457200" y="5270500"/>
            <a:ext cx="11277600" cy="1143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D3E5F"/>
                </a:solidFill>
              </a:rPr>
              <a:t>Submit → Intake (OCR/extraction) → Validate (eligibility) → AI Review (coverage matching + confidence scoring) → Route (auto-approve / human review / pend) → Respond (writeback + notification)</a:t>
            </a:r>
          </a:p>
        </p:txBody>
      </p:sp>
    </p:spTree>
    <p:extLst>
      <p:ext uri="{BB962C8B-B14F-4D97-AF65-F5344CB8AC3E}">
        <p14:creationId xmlns:p14="http://schemas.microsoft.com/office/powerpoint/2010/main" val="1481949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6506D-256D-4FD9-989A-20D4DD0B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en-US" sz="3200" b="1"/>
              <a:t>Demo — Proof of Concept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C1CDDA-8E54-4E68-8AD3-B77E990FDDF3}"/>
              </a:ext>
            </a:extLst>
          </p:cNvPr>
          <p:cNvSpPr txBox="1"/>
          <p:nvPr/>
        </p:nvSpPr>
        <p:spPr>
          <a:xfrm>
            <a:off x="457200" y="952500"/>
            <a:ext cx="5461000" cy="406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3AA"/>
                </a:solidFill>
              </a:rPr>
              <a:t>Demo Scope (Phase 0)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D3E5F"/>
                </a:solidFill>
              </a:rPr>
              <a:t>5 realistic PA cases with real ICD-10/CPT codes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2D3E5F"/>
                </a:solidFill>
              </a:rPr>
              <a:t>AI reviews each case in ~30 seconds using Claude tool use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2D3E5F"/>
                </a:solidFill>
              </a:rPr>
              <a:t>FHIR R4 data models throughout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2D3E5F"/>
                </a:solidFill>
              </a:rPr>
              <a:t>Three interfaces: CLI, REST API + Swagger, Web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5D45E-BF38-47BC-93C3-B81C6BB42C6A}"/>
              </a:ext>
            </a:extLst>
          </p:cNvPr>
          <p:cNvSpPr txBox="1"/>
          <p:nvPr/>
        </p:nvSpPr>
        <p:spPr>
          <a:xfrm>
            <a:off x="6286500" y="952500"/>
            <a:ext cx="5461000" cy="406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3AA"/>
                </a:solidFill>
              </a:rPr>
              <a:t>Production Differences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2D3E5F"/>
                </a:solidFill>
              </a:rPr>
              <a:t>Mock eligibility → Payer Core System integration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2D3E5F"/>
                </a:solidFill>
              </a:rPr>
              <a:t>Local criteria → CMS Coverage Database API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2D3E5F"/>
                </a:solidFill>
              </a:rPr>
              <a:t>Synthetic patients → Real clinical records via FHIR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2D3E5F"/>
                </a:solidFill>
              </a:rPr>
              <a:t>Single-user → Azure Container Apps with auto-scaling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AF48F9-1DC7-450D-AD76-78064CC1D7FF}"/>
              </a:ext>
            </a:extLst>
          </p:cNvPr>
          <p:cNvSpPr/>
          <p:nvPr/>
        </p:nvSpPr>
        <p:spPr>
          <a:xfrm>
            <a:off x="3048000" y="5588000"/>
            <a:ext cx="6096000" cy="762000"/>
          </a:xfrm>
          <a:prstGeom prst="roundRect">
            <a:avLst/>
          </a:prstGeom>
          <a:solidFill>
            <a:srgbClr val="0073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▶  LIVE DEMO follows this slide</a:t>
            </a:r>
          </a:p>
        </p:txBody>
      </p:sp>
    </p:spTree>
    <p:extLst>
      <p:ext uri="{BB962C8B-B14F-4D97-AF65-F5344CB8AC3E}">
        <p14:creationId xmlns:p14="http://schemas.microsoft.com/office/powerpoint/2010/main" val="2466490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57E6E-063F-C989-A272-87338D29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en-US" sz="3200" b="1"/>
              <a:t>System Context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5A8C0D-9770-4F99-AA36-6D5FAF43A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030446"/>
              </p:ext>
            </p:extLst>
          </p:nvPr>
        </p:nvGraphicFramePr>
        <p:xfrm>
          <a:off x="6223000" y="1016000"/>
          <a:ext cx="5588001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3543419682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665845897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3956236883"/>
                    </a:ext>
                  </a:extLst>
                </a:gridCol>
              </a:tblGrid>
              <a:tr h="1000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Actor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139586"/>
                  </a:ext>
                </a:extLst>
              </a:tr>
              <a:tr h="1020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Healthcare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Submit PA requests via multiple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Fax, Portal, X12 278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343679"/>
                  </a:ext>
                </a:extLst>
              </a:tr>
              <a:tr h="1020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Autonomize AI Platform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AI-driven clinical review engine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PA Copilot on Genesis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639787"/>
                  </a:ext>
                </a:extLst>
              </a:tr>
              <a:tr h="1020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Health Plan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Eligibility, benefits, clinical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REST API, FHIR R4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156713"/>
                  </a:ext>
                </a:extLst>
              </a:tr>
              <a:tr h="1020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Regulators (CMS)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Compliance reporting and oversight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CMS-0057-F metrics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24014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C2839EE-87FF-7C06-4A6B-92D2AF3DB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16000"/>
            <a:ext cx="571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8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C1279-4F78-A006-5147-3CA40D2FC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en-US" sz="3200" b="1"/>
              <a:t>Component Architecture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04B893-5501-47DF-B723-DC54CE72B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845490"/>
              </p:ext>
            </p:extLst>
          </p:nvPr>
        </p:nvGraphicFramePr>
        <p:xfrm>
          <a:off x="3937000" y="889000"/>
          <a:ext cx="80010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999">
                  <a:extLst>
                    <a:ext uri="{9D8B030D-6E8A-4147-A177-3AD203B41FA5}">
                      <a16:colId xmlns:a16="http://schemas.microsoft.com/office/drawing/2014/main" val="2703687651"/>
                    </a:ext>
                  </a:extLst>
                </a:gridCol>
                <a:gridCol w="2666999">
                  <a:extLst>
                    <a:ext uri="{9D8B030D-6E8A-4147-A177-3AD203B41FA5}">
                      <a16:colId xmlns:a16="http://schemas.microsoft.com/office/drawing/2014/main" val="868579579"/>
                    </a:ext>
                  </a:extLst>
                </a:gridCol>
                <a:gridCol w="2667002">
                  <a:extLst>
                    <a:ext uri="{9D8B030D-6E8A-4147-A177-3AD203B41FA5}">
                      <a16:colId xmlns:a16="http://schemas.microsoft.com/office/drawing/2014/main" val="2734590448"/>
                    </a:ext>
                  </a:extLst>
                </a:gridCol>
              </a:tblGrid>
              <a:tr h="60677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Azure Service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46777"/>
                  </a:ext>
                </a:extLst>
              </a:tr>
              <a:tr h="60677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Ingestion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API Mgmt +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Receives all PA channels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951008"/>
                  </a:ext>
                </a:extLst>
              </a:tr>
              <a:tr h="60677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Document Processing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AI Document Intelligence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OCR for faxes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173940"/>
                  </a:ext>
                </a:extLst>
              </a:tr>
              <a:tr h="60677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Eligibility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Payer Core 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Member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076601"/>
                  </a:ext>
                </a:extLst>
              </a:tr>
              <a:tr h="60677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Clinical Data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Health Data Services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Unified clinical context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925575"/>
                  </a:ext>
                </a:extLst>
              </a:tr>
              <a:tr h="60677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PA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Genesis + 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AI clinical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48215"/>
                  </a:ext>
                </a:extLst>
              </a:tr>
              <a:tr h="60677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Determination Router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Functions + Rules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Confidence-based routing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374305"/>
                  </a:ext>
                </a:extLst>
              </a:tr>
              <a:tr h="606777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Review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AI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Human reviewer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12794"/>
                  </a:ext>
                </a:extLst>
              </a:tr>
              <a:tr h="606784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Audit &amp; Compliance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Immutable Blob Storage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Tamper-proof audit trail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59319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34DF5DB-EA19-E0FF-6176-1D7A6971B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889000"/>
            <a:ext cx="36195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74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0FE-ECF1-5AF7-53C3-6A532848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en-US" sz="3200" b="1"/>
              <a:t>Why This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47742-9400-49AF-85E8-5176EE402197}"/>
              </a:ext>
            </a:extLst>
          </p:cNvPr>
          <p:cNvSpPr txBox="1"/>
          <p:nvPr/>
        </p:nvSpPr>
        <p:spPr>
          <a:xfrm>
            <a:off x="457200" y="889000"/>
            <a:ext cx="35560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E63946"/>
                </a:solidFill>
              </a:rPr>
              <a:t>The Problem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Manual PA costs </a:t>
            </a:r>
            <a:r>
              <a:rPr lang="en-US" sz="1400" b="1" dirty="0">
                <a:solidFill>
                  <a:srgbClr val="1B2A4A"/>
                </a:solidFill>
              </a:rPr>
              <a:t>$10.97 per transaction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Takes days, burns out clinical staff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1B2A4A"/>
                </a:solidFill>
              </a:rPr>
              <a:t>93% of physicians</a:t>
            </a:r>
            <a:r>
              <a:rPr lang="en-US" sz="1400" dirty="0">
                <a:solidFill>
                  <a:srgbClr val="2D3E5F"/>
                </a:solidFill>
              </a:rPr>
              <a:t> say PA delays patient care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1BC9CE-2C4F-44E0-BA94-DE91E0EF1ECB}"/>
              </a:ext>
            </a:extLst>
          </p:cNvPr>
          <p:cNvSpPr/>
          <p:nvPr/>
        </p:nvSpPr>
        <p:spPr>
          <a:xfrm>
            <a:off x="4318000" y="889000"/>
            <a:ext cx="2286000" cy="1016000"/>
          </a:xfrm>
          <a:prstGeom prst="roundRect">
            <a:avLst/>
          </a:prstGeom>
          <a:solidFill>
            <a:srgbClr val="F0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0073AA"/>
                </a:solidFill>
              </a:rPr>
              <a:t>45%</a:t>
            </a:r>
          </a:p>
          <a:p>
            <a:pPr algn="ctr">
              <a:buNone/>
            </a:pPr>
            <a:r>
              <a:rPr lang="en-US" sz="1200" dirty="0">
                <a:solidFill>
                  <a:srgbClr val="2D3E5F"/>
                </a:solidFill>
              </a:rPr>
              <a:t>Review Time Reduction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BDA5BD-C748-45F4-A6D6-0D85C31EE7C1}"/>
              </a:ext>
            </a:extLst>
          </p:cNvPr>
          <p:cNvSpPr/>
          <p:nvPr/>
        </p:nvSpPr>
        <p:spPr>
          <a:xfrm>
            <a:off x="4318000" y="2032000"/>
            <a:ext cx="2286000" cy="1016000"/>
          </a:xfrm>
          <a:prstGeom prst="roundRect">
            <a:avLst/>
          </a:prstGeom>
          <a:solidFill>
            <a:srgbClr val="F0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00A5B5"/>
                </a:solidFill>
              </a:rPr>
              <a:t>54%</a:t>
            </a:r>
          </a:p>
          <a:p>
            <a:pPr algn="ctr">
              <a:buNone/>
            </a:pPr>
            <a:r>
              <a:rPr lang="en-US" sz="1200" dirty="0">
                <a:solidFill>
                  <a:srgbClr val="2D3E5F"/>
                </a:solidFill>
              </a:rPr>
              <a:t>Manual Error Reduction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967EDF-9175-4BA7-A5E1-5BACD1DDFBB1}"/>
              </a:ext>
            </a:extLst>
          </p:cNvPr>
          <p:cNvSpPr/>
          <p:nvPr/>
        </p:nvSpPr>
        <p:spPr>
          <a:xfrm>
            <a:off x="4318000" y="3175000"/>
            <a:ext cx="2286000" cy="1016000"/>
          </a:xfrm>
          <a:prstGeom prst="roundRect">
            <a:avLst/>
          </a:prstGeom>
          <a:solidFill>
            <a:srgbClr val="F0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4CAF50"/>
                </a:solidFill>
              </a:rPr>
              <a:t>50%</a:t>
            </a:r>
          </a:p>
          <a:p>
            <a:pPr algn="ctr">
              <a:buNone/>
            </a:pPr>
            <a:r>
              <a:rPr lang="en-US" sz="1200" dirty="0">
                <a:solidFill>
                  <a:srgbClr val="2D3E5F"/>
                </a:solidFill>
              </a:rPr>
              <a:t>Auto-Determination 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87DBA-F7F4-4BA8-9FEE-708A3B7F5BB0}"/>
              </a:ext>
            </a:extLst>
          </p:cNvPr>
          <p:cNvSpPr txBox="1"/>
          <p:nvPr/>
        </p:nvSpPr>
        <p:spPr>
          <a:xfrm>
            <a:off x="6921500" y="889000"/>
            <a:ext cx="4889500" cy="355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3AA"/>
                </a:solidFill>
              </a:rPr>
              <a:t>Why These Specific Choices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AI-driven clinical review with </a:t>
            </a:r>
            <a:r>
              <a:rPr lang="en-US" sz="1400" b="1" dirty="0">
                <a:solidFill>
                  <a:srgbClr val="1B2A4A"/>
                </a:solidFill>
              </a:rPr>
              <a:t>human oversight</a:t>
            </a:r>
            <a:r>
              <a:rPr lang="en-US" sz="1400" dirty="0">
                <a:solidFill>
                  <a:srgbClr val="2D3E5F"/>
                </a:solidFill>
              </a:rPr>
              <a:t> — never auto-deny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Configurable confidence thresholds — start conservative, tune with real data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CMS-0057-F compliance readiness — FHIR R4 meets Jan 2027 deadline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Azure-native deployment — leverages Autonomize ecosystem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158FC7-0D0C-46BE-A8CB-5E5354A10F85}"/>
              </a:ext>
            </a:extLst>
          </p:cNvPr>
          <p:cNvSpPr txBox="1"/>
          <p:nvPr/>
        </p:nvSpPr>
        <p:spPr>
          <a:xfrm>
            <a:off x="457200" y="6223000"/>
            <a:ext cx="112776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8E99A4"/>
                </a:solidFill>
              </a:rPr>
              <a:t>Metrics: Altais + Autonomize AI (Feb 2026) | Cost: CAQH 2024 Index | Survey: AMA 2024</a:t>
            </a:r>
          </a:p>
        </p:txBody>
      </p:sp>
    </p:spTree>
    <p:extLst>
      <p:ext uri="{BB962C8B-B14F-4D97-AF65-F5344CB8AC3E}">
        <p14:creationId xmlns:p14="http://schemas.microsoft.com/office/powerpoint/2010/main" val="1592352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E5239-3965-2487-24FE-873F0411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en-US" sz="2800" b="1"/>
              <a:t>Top 3 Security Risks &amp; Mitigations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E8D1E7-548A-4E5F-9EB3-2CB33106E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824720"/>
              </p:ext>
            </p:extLst>
          </p:nvPr>
        </p:nvGraphicFramePr>
        <p:xfrm>
          <a:off x="457200" y="889000"/>
          <a:ext cx="112776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2412902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5037574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3665655053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215073784"/>
                    </a:ext>
                  </a:extLst>
                </a:gridCol>
              </a:tblGrid>
              <a:tr h="98425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Mitigation 1: Architectural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Mitigation 2: Operational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332062"/>
                  </a:ext>
                </a:extLst>
              </a:tr>
              <a:tr h="98425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D3E5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2D3E5F"/>
                          </a:solidFill>
                        </a:rPr>
                        <a:t>PHI exposure through AI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PHI tokenization before LLM — AI sees clinical facts without patient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Zero data retention for model training (Anthropic enterprise terms)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96840"/>
                  </a:ext>
                </a:extLst>
              </a:tr>
              <a:tr h="98425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D3E5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2D3E5F"/>
                          </a:solidFill>
                        </a:rPr>
                        <a:t>Prompt injection via clinical documents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Document sanitization + system prompt isolation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Output validation requiring evidence citations — injected claims fail verification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508274"/>
                  </a:ext>
                </a:extLst>
              </a:tr>
              <a:tr h="98425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D3E5F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2D3E5F"/>
                          </a:solidFill>
                        </a:rPr>
                        <a:t>Untraceable AI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Tamper-proof audit trail: model version, input hash, reasoning,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Immutable 7-year retention with append-only writes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9506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A4BB64-F0AB-4845-ABB9-6E105DBD143F}"/>
              </a:ext>
            </a:extLst>
          </p:cNvPr>
          <p:cNvSpPr txBox="1"/>
          <p:nvPr/>
        </p:nvSpPr>
        <p:spPr>
          <a:xfrm>
            <a:off x="457200" y="5080000"/>
            <a:ext cx="11277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D3E5F"/>
                </a:solidFill>
              </a:rPr>
              <a:t>Additional controls: Entra ID RBAC, AES-256 at rest, TLS 1.2+ in transit, private endpoints, no auto-deny without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383594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E10D-46B9-0EC8-7DBE-BAC19DD29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en-US" sz="3200" b="1"/>
              <a:t>Progressive Delivery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AD3016-90DE-46FE-BA4E-565BD9498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851117"/>
              </p:ext>
            </p:extLst>
          </p:nvPr>
        </p:nvGraphicFramePr>
        <p:xfrm>
          <a:off x="1016000" y="1270000"/>
          <a:ext cx="101600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78207252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246229704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3915034513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Key Deliverable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16429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D3E5F"/>
                          </a:solidFill>
                        </a:rPr>
                        <a:t>Phase 0: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Prove the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Working AI PA review with mock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3685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D3E5F"/>
                          </a:solidFill>
                        </a:rPr>
                        <a:t>Phase 1: MVP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Single LOB, single channel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Production PA processing with human review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98781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D3E5F"/>
                          </a:solidFill>
                        </a:rPr>
                        <a:t>Phase 2: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Multi-channel, multi-LOB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Fax OCR, legacy data, LOB configuration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99203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2D3E5F"/>
                          </a:solidFill>
                        </a:rPr>
                        <a:t>Phase 3: Enterprise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Full scale, compliance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All channels, 20 LOBs, CMS reporting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8506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BBF346-AF65-4185-ADDE-042798DDA328}"/>
              </a:ext>
            </a:extLst>
          </p:cNvPr>
          <p:cNvSpPr txBox="1"/>
          <p:nvPr/>
        </p:nvSpPr>
        <p:spPr>
          <a:xfrm>
            <a:off x="1016000" y="52070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D3E5F"/>
                </a:solidFill>
              </a:rPr>
              <a:t>Each phase produces a deployable, demonstrable system. Decision gates between phases use real performance data to scope the next phase.</a:t>
            </a:r>
          </a:p>
        </p:txBody>
      </p:sp>
    </p:spTree>
    <p:extLst>
      <p:ext uri="{BB962C8B-B14F-4D97-AF65-F5344CB8AC3E}">
        <p14:creationId xmlns:p14="http://schemas.microsoft.com/office/powerpoint/2010/main" val="1875077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B2FC-FA15-3DC1-C0B6-C8FB0D665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en-US" sz="3200" b="1"/>
              <a:t>Discussion Starters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DFE1C-4CB4-4FE1-8FC1-E292CEAD8302}"/>
              </a:ext>
            </a:extLst>
          </p:cNvPr>
          <p:cNvSpPr txBox="1"/>
          <p:nvPr/>
        </p:nvSpPr>
        <p:spPr>
          <a:xfrm>
            <a:off x="457200" y="1016000"/>
            <a:ext cx="3683000" cy="469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3AA"/>
                </a:solidFill>
              </a:rPr>
              <a:t>Business Strategy</a:t>
            </a:r>
          </a:p>
          <a:p>
            <a:pPr>
              <a:spcBef>
                <a:spcPts val="800"/>
              </a:spcBef>
              <a:buNone/>
            </a:pPr>
            <a:r>
              <a:rPr lang="en-US" sz="1500" dirty="0">
                <a:solidFill>
                  <a:srgbClr val="2D3E5F"/>
                </a:solidFill>
              </a:rPr>
              <a:t>How does the ServiceNow partnership change the payer integration strategy?</a:t>
            </a:r>
          </a:p>
          <a:p>
            <a:pPr>
              <a:spcBef>
                <a:spcPts val="800"/>
              </a:spcBef>
              <a:buNone/>
            </a:pPr>
            <a:r>
              <a:rPr lang="en-US" sz="1500" dirty="0">
                <a:solidFill>
                  <a:srgbClr val="2D3E5F"/>
                </a:solidFill>
              </a:rPr>
              <a:t>What is the target auto-determination rate for Phase 1?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14D83-81E8-4A6A-BEC2-E7F13DCD5364}"/>
              </a:ext>
            </a:extLst>
          </p:cNvPr>
          <p:cNvSpPr txBox="1"/>
          <p:nvPr/>
        </p:nvSpPr>
        <p:spPr>
          <a:xfrm>
            <a:off x="4318000" y="1016000"/>
            <a:ext cx="3683000" cy="469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A5B5"/>
                </a:solidFill>
              </a:rPr>
              <a:t>Technical Depth</a:t>
            </a:r>
          </a:p>
          <a:p>
            <a:pPr>
              <a:spcBef>
                <a:spcPts val="800"/>
              </a:spcBef>
              <a:buNone/>
            </a:pPr>
            <a:r>
              <a:rPr lang="en-US" sz="1500" dirty="0">
                <a:solidFill>
                  <a:srgbClr val="2D3E5F"/>
                </a:solidFill>
              </a:rPr>
              <a:t>How does the Genesis Platform handle coverage criteria updates?</a:t>
            </a:r>
          </a:p>
          <a:p>
            <a:pPr>
              <a:spcBef>
                <a:spcPts val="800"/>
              </a:spcBef>
              <a:buNone/>
            </a:pPr>
            <a:r>
              <a:rPr lang="en-US" sz="1500" dirty="0">
                <a:solidFill>
                  <a:srgbClr val="2D3E5F"/>
                </a:solidFill>
              </a:rPr>
              <a:t>What's the Azure AI Foundry Agent Service integration status?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557D3-DF1E-4B8D-A5AF-9D6ACC5AC353}"/>
              </a:ext>
            </a:extLst>
          </p:cNvPr>
          <p:cNvSpPr txBox="1"/>
          <p:nvPr/>
        </p:nvSpPr>
        <p:spPr>
          <a:xfrm>
            <a:off x="8128000" y="1016000"/>
            <a:ext cx="3683000" cy="469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7B61FF"/>
                </a:solidFill>
              </a:rPr>
              <a:t>Implementation</a:t>
            </a:r>
          </a:p>
          <a:p>
            <a:pPr>
              <a:spcBef>
                <a:spcPts val="800"/>
              </a:spcBef>
              <a:buNone/>
            </a:pPr>
            <a:r>
              <a:rPr lang="en-US" sz="1500" dirty="0">
                <a:solidFill>
                  <a:srgbClr val="2D3E5F"/>
                </a:solidFill>
              </a:rPr>
              <a:t>Which LOB is the ideal Phase 1 candidate?</a:t>
            </a:r>
          </a:p>
          <a:p>
            <a:pPr>
              <a:spcBef>
                <a:spcPts val="800"/>
              </a:spcBef>
              <a:buNone/>
            </a:pPr>
            <a:r>
              <a:rPr lang="en-US" sz="1500" dirty="0">
                <a:solidFill>
                  <a:srgbClr val="2D3E5F"/>
                </a:solidFill>
              </a:rPr>
              <a:t>What's been the biggest integration challenge with existing payer deployments?</a:t>
            </a:r>
          </a:p>
        </p:txBody>
      </p:sp>
    </p:spTree>
    <p:extLst>
      <p:ext uri="{BB962C8B-B14F-4D97-AF65-F5344CB8AC3E}">
        <p14:creationId xmlns:p14="http://schemas.microsoft.com/office/powerpoint/2010/main" val="1753114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A385-49E6-0FE7-279A-203839ED3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en-US" sz="2800" b="1"/>
              <a:t>Appendix A: Clinical Data Integration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44A688-2ACC-459F-ADF5-C5D11A46B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607204"/>
              </p:ext>
            </p:extLst>
          </p:nvPr>
        </p:nvGraphicFramePr>
        <p:xfrm>
          <a:off x="6223000" y="1016000"/>
          <a:ext cx="5588001" cy="154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3183395650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52047572"/>
                    </a:ext>
                  </a:extLst>
                </a:gridCol>
                <a:gridCol w="1862667">
                  <a:extLst>
                    <a:ext uri="{9D8B030D-6E8A-4147-A177-3AD203B41FA5}">
                      <a16:colId xmlns:a16="http://schemas.microsoft.com/office/drawing/2014/main" val="122308315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Auth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56204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Modern EMRs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FHIR R4 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OAuth 2.0 / SMART on FHIR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70249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Legacy DB 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DB connector / HL7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E5F"/>
                          </a:solidFill>
                        </a:rPr>
                        <a:t>Service account + VNet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891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39BC5B-1A92-468F-BA50-46E938A22E13}"/>
              </a:ext>
            </a:extLst>
          </p:cNvPr>
          <p:cNvSpPr txBox="1"/>
          <p:nvPr/>
        </p:nvSpPr>
        <p:spPr>
          <a:xfrm>
            <a:off x="6223000" y="3556000"/>
            <a:ext cx="5588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D3E5F"/>
                </a:solidFill>
              </a:rPr>
              <a:t>FHIR R4 role: Interoperability standard for clinical data exchange. Modern sources expose it natively. Legacy data normalized to FHIR-compatible format before AI processing.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DD6DF-ED3A-465A-A537-A54E5508CCCD}"/>
              </a:ext>
            </a:extLst>
          </p:cNvPr>
          <p:cNvSpPr txBox="1"/>
          <p:nvPr/>
        </p:nvSpPr>
        <p:spPr>
          <a:xfrm>
            <a:off x="6223000" y="4826000"/>
            <a:ext cx="558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E63946"/>
                </a:solidFill>
              </a:rPr>
              <a:t>Security: All clinical data passes through PHI tokenization layer before reaching the AI engine.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AE425F-28C0-B27E-1123-7D15E67D7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16000"/>
            <a:ext cx="5715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402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1770-B37B-9BA1-5864-615E68E3D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it-IT" sz="2600" b="1"/>
              <a:t>Appendix B: AI Model Monitoring &amp; Feedback</a:t>
            </a:r>
            <a:endParaRPr lang="en-US" sz="26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78BA4-C50E-4991-80D9-EC1CD49D604C}"/>
              </a:ext>
            </a:extLst>
          </p:cNvPr>
          <p:cNvSpPr txBox="1"/>
          <p:nvPr/>
        </p:nvSpPr>
        <p:spPr>
          <a:xfrm>
            <a:off x="457200" y="3810000"/>
            <a:ext cx="5588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73AA"/>
                </a:solidFill>
              </a:rPr>
              <a:t>Detect Drift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Outcome monitoring — overturn rate, appeal rate, accuracy trends</a:t>
            </a:r>
          </a:p>
          <a:p>
            <a:pPr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Automated evals — golden test cases benchmarked on schedule</a:t>
            </a:r>
          </a:p>
          <a:p>
            <a:pPr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Confidence distribution — shifts signal model or data changes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95D10-9406-409C-86A9-2424621EA721}"/>
              </a:ext>
            </a:extLst>
          </p:cNvPr>
          <p:cNvSpPr txBox="1"/>
          <p:nvPr/>
        </p:nvSpPr>
        <p:spPr>
          <a:xfrm>
            <a:off x="6350000" y="3810000"/>
            <a:ext cx="54610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5B5"/>
                </a:solidFill>
              </a:rPr>
              <a:t>Feedback Loop</a:t>
            </a:r>
          </a:p>
          <a:p>
            <a:pPr>
              <a:spcBef>
                <a:spcPts val="400"/>
              </a:spcBef>
              <a:buFont typeface="Arial"/>
              <a:buAutoNum type="arabicPeriod"/>
            </a:pPr>
            <a:r>
              <a:rPr lang="en-US" sz="1400" dirty="0">
                <a:solidFill>
                  <a:srgbClr val="2D3E5F"/>
                </a:solidFill>
              </a:rPr>
              <a:t>Human reviewer corrections → updated eval dataset</a:t>
            </a:r>
          </a:p>
          <a:p>
            <a:pPr>
              <a:spcBef>
                <a:spcPts val="300"/>
              </a:spcBef>
              <a:buFont typeface="Arial"/>
              <a:buAutoNum type="arabicPeriod"/>
            </a:pPr>
            <a:r>
              <a:rPr lang="en-US" sz="1400" dirty="0">
                <a:solidFill>
                  <a:srgbClr val="2D3E5F"/>
                </a:solidFill>
              </a:rPr>
              <a:t>Eval dataset → benchmark new model versions vs current</a:t>
            </a:r>
          </a:p>
          <a:p>
            <a:pPr>
              <a:spcBef>
                <a:spcPts val="300"/>
              </a:spcBef>
              <a:buFont typeface="Arial"/>
              <a:buAutoNum type="arabicPeriod"/>
            </a:pPr>
            <a:r>
              <a:rPr lang="en-US" sz="1400" dirty="0">
                <a:solidFill>
                  <a:srgbClr val="2D3E5F"/>
                </a:solidFill>
              </a:rPr>
              <a:t>If improved → staged blue-green rollout</a:t>
            </a:r>
          </a:p>
          <a:p>
            <a:pPr>
              <a:spcBef>
                <a:spcPts val="300"/>
              </a:spcBef>
              <a:buFont typeface="Arial"/>
              <a:buAutoNum type="arabicPeriod"/>
            </a:pPr>
            <a:r>
              <a:rPr lang="en-US" sz="1400" dirty="0">
                <a:solidFill>
                  <a:srgbClr val="2D3E5F"/>
                </a:solidFill>
              </a:rPr>
              <a:t>Guardrails always active: input filtering, output validation, clinical safety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6AAC11-4BF4-2A3C-F055-2436F7055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89000"/>
            <a:ext cx="112776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80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3DC3-3A7E-382D-5E64-20C0A6CC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000"/>
            <a:ext cx="11277600" cy="635000"/>
          </a:xfrm>
        </p:spPr>
        <p:txBody>
          <a:bodyPr>
            <a:normAutofit/>
          </a:bodyPr>
          <a:lstStyle/>
          <a:p>
            <a:r>
              <a:rPr lang="en-US" sz="2800" b="1"/>
              <a:t>Appendix C: Scaling to 20 LOBs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AE8A23-EEB1-4B0B-A003-DE454BF15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922826"/>
              </p:ext>
            </p:extLst>
          </p:nvPr>
        </p:nvGraphicFramePr>
        <p:xfrm>
          <a:off x="1651000" y="1270000"/>
          <a:ext cx="8890000" cy="1650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134296864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379496649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97032128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279302311"/>
                    </a:ext>
                  </a:extLst>
                </a:gridCol>
              </a:tblGrid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Isolation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0073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062293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2D3E5F"/>
                          </a:solidFill>
                        </a:rPr>
                        <a:t>Multi-tenant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732884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2D3E5F"/>
                          </a:solidFill>
                        </a:rPr>
                        <a:t>Multi-instance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Higher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Physical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2D3E5F"/>
                          </a:solidFill>
                        </a:rPr>
                        <a:t>Higher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586563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497903-37BA-42B0-83B3-C391AE91B8BA}"/>
              </a:ext>
            </a:extLst>
          </p:cNvPr>
          <p:cNvSpPr/>
          <p:nvPr/>
        </p:nvSpPr>
        <p:spPr>
          <a:xfrm>
            <a:off x="1270000" y="3683000"/>
            <a:ext cx="9652000" cy="1016000"/>
          </a:xfrm>
          <a:prstGeom prst="roundRect">
            <a:avLst/>
          </a:prstGeom>
          <a:solidFill>
            <a:srgbClr val="F0F4F8"/>
          </a:solidFill>
          <a:ln w="19050" cap="flat" cmpd="sng" algn="ctr">
            <a:solidFill>
              <a:srgbClr val="0073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2D3E5F"/>
                </a:solidFill>
              </a:rPr>
              <a:t>Recommendation: Start multi-tenant with per-LOB configuration. Autonomize Genesis Platform already supports it. Deploy separate instances only where regulation requires physical isolation.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71992-7348-4D70-9F45-2A668694D90E}"/>
              </a:ext>
            </a:extLst>
          </p:cNvPr>
          <p:cNvSpPr txBox="1"/>
          <p:nvPr/>
        </p:nvSpPr>
        <p:spPr>
          <a:xfrm>
            <a:off x="1270000" y="50800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8E99A4"/>
                </a:solidFill>
              </a:rPr>
              <a:t>Honest unknowns: The right answer depends on actual LOB rule complexity and regulatory requirements — both are discovery questions.</a:t>
            </a:r>
          </a:p>
        </p:txBody>
      </p:sp>
    </p:spTree>
    <p:extLst>
      <p:ext uri="{BB962C8B-B14F-4D97-AF65-F5344CB8AC3E}">
        <p14:creationId xmlns:p14="http://schemas.microsoft.com/office/powerpoint/2010/main" val="1544952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407632161]">
  <a:themeElements>
    <a:clrScheme name="Autonomize Healthcare">
      <a:dk1>
        <a:srgbClr val="1B2A4A"/>
      </a:dk1>
      <a:lt1>
        <a:srgbClr val="FFFFFF"/>
      </a:lt1>
      <a:dk2>
        <a:srgbClr val="2D3E5F"/>
      </a:dk2>
      <a:lt2>
        <a:srgbClr val="F0F4F8"/>
      </a:lt2>
      <a:accent1>
        <a:srgbClr val="0073AA"/>
      </a:accent1>
      <a:accent2>
        <a:srgbClr val="00A5B5"/>
      </a:accent2>
      <a:accent3>
        <a:srgbClr val="4CAF50"/>
      </a:accent3>
      <a:accent4>
        <a:srgbClr val="FF8C00"/>
      </a:accent4>
      <a:accent5>
        <a:srgbClr val="7B61FF"/>
      </a:accent5>
      <a:accent6>
        <a:srgbClr val="E63946"/>
      </a:accent6>
      <a:hlink>
        <a:srgbClr val="467886"/>
      </a:hlink>
      <a:folHlink>
        <a:srgbClr val="96607D"/>
      </a:folHlink>
    </a:clrScheme>
    <a:fontScheme name="Autonomiz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9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CF576B-46B0-4487-90E6-AFBB0A373594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874</Words>
  <Application>Microsoft Office PowerPoint</Application>
  <PresentationFormat>Widescreen</PresentationFormat>
  <Paragraphs>159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Montserrat</vt:lpstr>
      <vt:lpstr>Source Sans Pro</vt:lpstr>
      <vt:lpstr>Office Theme [1774407632161]</vt:lpstr>
      <vt:lpstr>AI-Driven Prior Authorization</vt:lpstr>
      <vt:lpstr>PA Request Lifecycle</vt:lpstr>
      <vt:lpstr>Demo — Proof of Concept</vt:lpstr>
      <vt:lpstr>System Context</vt:lpstr>
      <vt:lpstr>Component Architecture</vt:lpstr>
      <vt:lpstr>Why This Architecture</vt:lpstr>
      <vt:lpstr>Top 3 Security Risks &amp; Mitigations</vt:lpstr>
      <vt:lpstr>Progressive Delivery</vt:lpstr>
      <vt:lpstr>Discussion Starters</vt:lpstr>
      <vt:lpstr>Appendix A: Clinical Data Integration</vt:lpstr>
      <vt:lpstr>Appendix B: AI Model Monitoring &amp; Feedback</vt:lpstr>
      <vt:lpstr>Appendix C: Scaling to 20 LOBs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Prae</dc:creator>
  <cp:lastModifiedBy>Paul Prae</cp:lastModifiedBy>
  <cp:revision>2</cp:revision>
  <dcterms:created xsi:type="dcterms:W3CDTF">2026-03-25T02:53:57Z</dcterms:created>
  <dcterms:modified xsi:type="dcterms:W3CDTF">2026-03-25T03:22:59Z</dcterms:modified>
</cp:coreProperties>
</file>